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EE328-6AFF-436B-881F-213D5608454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1480828-6983-48AD-9E27-CBD3696F837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E37674-C1BA-4107-9B06-6D4CAC3A3DF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/>
              <a:t>Разработка информационной системы для рыболовной фирмы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 студент гр.исп-2</a:t>
            </a:r>
            <a:r>
              <a:rPr lang="en-US" dirty="0"/>
              <a:t>3</a:t>
            </a:r>
            <a:r>
              <a:rPr lang="ru-RU" altLang="en-US" dirty="0"/>
              <a:t> Маклецов н.С.</a:t>
            </a:r>
            <a:endParaRPr lang="ru-RU" altLang="en-US" dirty="0"/>
          </a:p>
          <a:p>
            <a:r>
              <a:rPr lang="ru-RU" dirty="0"/>
              <a:t>Руководитель: Бородина </a:t>
            </a:r>
            <a:r>
              <a:rPr lang="ru-RU" dirty="0" err="1"/>
              <a:t>К.с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677" y="254633"/>
            <a:ext cx="1981771" cy="16821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2" y="1095709"/>
            <a:ext cx="1390712" cy="121687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9" y="133143"/>
            <a:ext cx="1952134" cy="832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Обоснование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6800" y="2273724"/>
            <a:ext cx="10058400" cy="4023360"/>
          </a:xfrm>
        </p:spPr>
        <p:txBody>
          <a:bodyPr>
            <a:normAutofit fontScale="25000"/>
          </a:bodyPr>
          <a:lstStyle/>
          <a:p>
            <a:pPr marL="0" indent="0">
              <a:buNone/>
            </a:pPr>
            <a:endParaRPr lang="en-US" altLang="ru-RU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Управление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членами</a:t>
            </a:r>
            <a:r>
              <a:rPr lang="en-US" altLang="ru-RU" sz="5600" dirty="0"/>
              <a:t> </a:t>
            </a:r>
            <a:r>
              <a:rPr lang="en-US" altLang="en-US" sz="5600" dirty="0"/>
              <a:t>команды</a:t>
            </a:r>
            <a:r>
              <a:rPr lang="en-US" altLang="ru-RU" sz="5600" dirty="0"/>
              <a:t> (CRUD, </a:t>
            </a:r>
            <a:r>
              <a:rPr lang="en-US" altLang="en-US" sz="5600" dirty="0"/>
              <a:t>назначение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на</a:t>
            </a:r>
            <a:r>
              <a:rPr lang="en-US" altLang="ru-RU" sz="5600" dirty="0"/>
              <a:t> </a:t>
            </a:r>
            <a:r>
              <a:rPr lang="en-US" altLang="en-US" sz="5600" dirty="0"/>
              <a:t>рейсы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Управление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банками</a:t>
            </a:r>
            <a:r>
              <a:rPr lang="en-US" altLang="ru-RU" sz="5600" dirty="0"/>
              <a:t> (</a:t>
            </a:r>
            <a:r>
              <a:rPr lang="en-US" altLang="en-US" sz="5600" dirty="0"/>
              <a:t>местами</a:t>
            </a:r>
            <a:r>
              <a:rPr lang="en-US" altLang="ru-RU" sz="5600" dirty="0"/>
              <a:t> </a:t>
            </a:r>
            <a:r>
              <a:rPr lang="en-US" altLang="en-US" sz="5600" dirty="0"/>
              <a:t>лова</a:t>
            </a:r>
            <a:r>
              <a:rPr lang="en-US" altLang="ru-RU" sz="5600" dirty="0"/>
              <a:t>) – </a:t>
            </a:r>
            <a:r>
              <a:rPr lang="en-US" altLang="en-US" sz="5600" dirty="0"/>
              <a:t>добавление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новой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банки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Регистрация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выхода</a:t>
            </a:r>
            <a:r>
              <a:rPr lang="en-US" altLang="ru-RU" sz="5600" dirty="0"/>
              <a:t> </a:t>
            </a:r>
            <a:r>
              <a:rPr lang="en-US" altLang="en-US" sz="5600" dirty="0"/>
              <a:t>катера</a:t>
            </a:r>
            <a:r>
              <a:rPr lang="en-US" altLang="ru-RU" sz="5600" dirty="0"/>
              <a:t> </a:t>
            </a:r>
            <a:r>
              <a:rPr lang="en-US" altLang="en-US" sz="5600" dirty="0"/>
              <a:t>в</a:t>
            </a:r>
            <a:r>
              <a:rPr lang="en-US" altLang="ru-RU" sz="5600" dirty="0"/>
              <a:t> </a:t>
            </a:r>
            <a:r>
              <a:rPr lang="en-US" altLang="en-US" sz="5600" dirty="0"/>
              <a:t>море</a:t>
            </a:r>
            <a:r>
              <a:rPr lang="en-US" altLang="ru-RU" sz="5600" dirty="0"/>
              <a:t> </a:t>
            </a:r>
            <a:r>
              <a:rPr lang="en-US" altLang="en-US" sz="5600" dirty="0"/>
              <a:t>с</a:t>
            </a:r>
            <a:r>
              <a:rPr lang="en-US" altLang="ru-RU" sz="5600" dirty="0"/>
              <a:t> </a:t>
            </a:r>
            <a:r>
              <a:rPr lang="en-US" altLang="en-US" sz="5600" dirty="0"/>
              <a:t>указанием</a:t>
            </a:r>
            <a:r>
              <a:rPr lang="en-US" altLang="ru-RU" sz="5600" dirty="0"/>
              <a:t> </a:t>
            </a:r>
            <a:r>
              <a:rPr lang="en-US" altLang="en-US" sz="5600" dirty="0"/>
              <a:t>команды</a:t>
            </a:r>
            <a:r>
              <a:rPr lang="en-US" altLang="ru-RU" sz="5600" dirty="0"/>
              <a:t> (</a:t>
            </a:r>
            <a:r>
              <a:rPr lang="en-US" altLang="en-US" sz="5600" dirty="0"/>
              <a:t>дата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выхода</a:t>
            </a:r>
            <a:r>
              <a:rPr lang="en-US" altLang="ru-RU" sz="5600" dirty="0"/>
              <a:t>/</a:t>
            </a:r>
            <a:r>
              <a:rPr lang="en-US" altLang="en-US" sz="5600" dirty="0"/>
              <a:t>возвращения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Добавление</a:t>
            </a:r>
            <a:r>
              <a:rPr lang="en-US" altLang="ru-RU" sz="5600" dirty="0"/>
              <a:t> </a:t>
            </a:r>
            <a:r>
              <a:rPr lang="en-US" altLang="en-US" sz="5600" dirty="0"/>
              <a:t>улова</a:t>
            </a:r>
            <a:r>
              <a:rPr lang="en-US" altLang="ru-RU" sz="5600" dirty="0"/>
              <a:t> (</a:t>
            </a:r>
            <a:r>
              <a:rPr lang="en-US" altLang="en-US" sz="5600" dirty="0"/>
              <a:t>привязка</a:t>
            </a:r>
            <a:r>
              <a:rPr lang="en-US" altLang="ru-RU" sz="5600" dirty="0"/>
              <a:t> </a:t>
            </a:r>
            <a:r>
              <a:rPr lang="en-US" altLang="en-US" sz="5600" dirty="0"/>
              <a:t>к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выходу</a:t>
            </a:r>
            <a:r>
              <a:rPr lang="en-US" altLang="ru-RU" sz="5600" dirty="0"/>
              <a:t> </a:t>
            </a:r>
            <a:r>
              <a:rPr lang="en-US" altLang="en-US" sz="5600" dirty="0"/>
              <a:t>и</a:t>
            </a:r>
            <a:r>
              <a:rPr lang="en-US" altLang="ru-RU" sz="5600" dirty="0"/>
              <a:t> </a:t>
            </a:r>
            <a:r>
              <a:rPr lang="en-US" altLang="en-US" sz="5600" dirty="0"/>
              <a:t>банке</a:t>
            </a:r>
            <a:r>
              <a:rPr lang="en-US" altLang="ru-RU" sz="5600" dirty="0"/>
              <a:t>, </a:t>
            </a:r>
            <a:r>
              <a:rPr lang="en-US" altLang="en-US" sz="5600" dirty="0"/>
              <a:t>сорт</a:t>
            </a:r>
            <a:r>
              <a:rPr lang="en-US" altLang="ru-RU" sz="5600" dirty="0"/>
              <a:t> </a:t>
            </a:r>
            <a:r>
              <a:rPr lang="en-US" altLang="en-US" sz="5600" dirty="0"/>
              <a:t>рыбы</a:t>
            </a:r>
            <a:r>
              <a:rPr lang="en-US" altLang="ru-RU" sz="5600" dirty="0"/>
              <a:t>, </a:t>
            </a:r>
            <a:r>
              <a:rPr lang="en-US" altLang="en-US" sz="5600" dirty="0"/>
              <a:t>вес</a:t>
            </a:r>
            <a:r>
              <a:rPr lang="en-US" altLang="ru-RU" sz="5600" dirty="0"/>
              <a:t>, </a:t>
            </a:r>
            <a:r>
              <a:rPr lang="en-US" altLang="en-US" sz="5600" dirty="0"/>
              <a:t>качество</a:t>
            </a:r>
            <a:r>
              <a:rPr lang="en-US" altLang="ru-RU" sz="5600" dirty="0"/>
              <a:t>, </a:t>
            </a:r>
            <a:r>
              <a:rPr lang="en-US" altLang="en-US" sz="5600" dirty="0"/>
              <a:t>даты</a:t>
            </a:r>
            <a:r>
              <a:rPr lang="en-US" altLang="ru-RU" sz="5600" dirty="0"/>
              <a:t> </a:t>
            </a:r>
            <a:r>
              <a:rPr lang="en-US" altLang="en-US" sz="5600" dirty="0"/>
              <a:t>прихода</a:t>
            </a:r>
            <a:r>
              <a:rPr lang="en-US" altLang="ru-RU" sz="5600" dirty="0"/>
              <a:t> </a:t>
            </a:r>
            <a:r>
              <a:rPr lang="en-US" altLang="en-US" sz="5600" dirty="0"/>
              <a:t>и</a:t>
            </a:r>
            <a:r>
              <a:rPr lang="en-US" altLang="ru-RU" sz="5600" dirty="0"/>
              <a:t> </a:t>
            </a:r>
            <a:r>
              <a:rPr lang="en-US" altLang="en-US" sz="5600" dirty="0"/>
              <a:t>отплытия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Формирование</a:t>
            </a:r>
            <a:r>
              <a:rPr lang="en-US" altLang="ru-RU" sz="5600" dirty="0"/>
              <a:t> </a:t>
            </a:r>
            <a:r>
              <a:rPr lang="en-US" altLang="en-US" sz="5600" dirty="0"/>
              <a:t>аналитических</a:t>
            </a:r>
            <a:r>
              <a:rPr lang="en-US" altLang="ru-RU" sz="5600" dirty="0"/>
              <a:t> </a:t>
            </a:r>
            <a:r>
              <a:rPr lang="en-US" altLang="en-US" sz="5600" dirty="0"/>
              <a:t>отчётов</a:t>
            </a:r>
            <a:r>
              <a:rPr lang="en-US" altLang="ru-RU" sz="5600" dirty="0"/>
              <a:t>: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для</a:t>
            </a:r>
            <a:r>
              <a:rPr lang="en-US" altLang="ru-RU" sz="5600" dirty="0"/>
              <a:t> </a:t>
            </a:r>
            <a:r>
              <a:rPr lang="en-US" altLang="en-US" sz="5600" dirty="0"/>
              <a:t>каждого</a:t>
            </a:r>
            <a:r>
              <a:rPr lang="en-US" altLang="ru-RU" sz="5600" dirty="0"/>
              <a:t> </a:t>
            </a:r>
            <a:r>
              <a:rPr lang="en-US" altLang="en-US" sz="5600" dirty="0"/>
              <a:t>катера</a:t>
            </a:r>
            <a:r>
              <a:rPr lang="en-US" altLang="ru-RU" sz="5600" dirty="0"/>
              <a:t> – </a:t>
            </a:r>
            <a:r>
              <a:rPr lang="en-US" altLang="en-US" sz="5600" dirty="0"/>
              <a:t>даты</a:t>
            </a:r>
            <a:r>
              <a:rPr lang="en-US" altLang="ru-RU" sz="5600" dirty="0"/>
              <a:t> </a:t>
            </a:r>
            <a:r>
              <a:rPr lang="en-US" altLang="en-US" sz="5600" dirty="0"/>
              <a:t>выхода</a:t>
            </a:r>
            <a:r>
              <a:rPr lang="en-US" altLang="ru-RU" sz="5600" dirty="0"/>
              <a:t> </a:t>
            </a:r>
            <a:r>
              <a:rPr lang="en-US" altLang="en-US" sz="5600" dirty="0"/>
              <a:t>с</a:t>
            </a:r>
            <a:r>
              <a:rPr lang="en-US" altLang="ru-RU" sz="5600" dirty="0"/>
              <a:t> </a:t>
            </a:r>
            <a:r>
              <a:rPr lang="en-US" altLang="en-US" sz="5600" dirty="0"/>
              <a:t>указанием</a:t>
            </a:r>
            <a:r>
              <a:rPr lang="en-US" altLang="ru-RU" sz="5600" dirty="0"/>
              <a:t> </a:t>
            </a:r>
            <a:r>
              <a:rPr lang="en-US" altLang="en-US" sz="5600" dirty="0"/>
              <a:t>улова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для</a:t>
            </a:r>
            <a:r>
              <a:rPr lang="en-US" altLang="ru-RU" sz="5600" dirty="0"/>
              <a:t> </a:t>
            </a:r>
            <a:r>
              <a:rPr lang="en-US" altLang="en-US" sz="5600" dirty="0"/>
              <a:t>указанного</a:t>
            </a:r>
            <a:r>
              <a:rPr lang="en-US" altLang="ru-RU" sz="5600" dirty="0"/>
              <a:t> </a:t>
            </a:r>
            <a:r>
              <a:rPr lang="en-US" altLang="en-US" sz="5600" dirty="0"/>
              <a:t>интервала</a:t>
            </a:r>
            <a:r>
              <a:rPr lang="en-US" altLang="ru-RU" sz="5600" dirty="0"/>
              <a:t> </a:t>
            </a:r>
            <a:r>
              <a:rPr lang="en-US" altLang="en-US" sz="5600" dirty="0"/>
              <a:t>дат</a:t>
            </a:r>
            <a:r>
              <a:rPr lang="en-US" altLang="ru-RU" sz="5600" dirty="0"/>
              <a:t> – </a:t>
            </a:r>
            <a:r>
              <a:rPr lang="en-US" altLang="en-US" sz="5600" dirty="0"/>
              <a:t>для</a:t>
            </a:r>
            <a:r>
              <a:rPr lang="en-US" altLang="ru-RU" sz="5600" dirty="0"/>
              <a:t> </a:t>
            </a:r>
            <a:r>
              <a:rPr lang="en-US" altLang="en-US" sz="5600" dirty="0"/>
              <a:t>каждого</a:t>
            </a:r>
            <a:r>
              <a:rPr lang="en-US" altLang="ru-RU" sz="5600" dirty="0"/>
              <a:t> </a:t>
            </a:r>
            <a:r>
              <a:rPr lang="en-US" altLang="en-US" sz="5600" dirty="0"/>
              <a:t>сорта</a:t>
            </a:r>
            <a:r>
              <a:rPr lang="en-US" altLang="ru-RU" sz="5600" dirty="0"/>
              <a:t> </a:t>
            </a:r>
            <a:r>
              <a:rPr lang="en-US" altLang="en-US" sz="5600" dirty="0"/>
              <a:t>рыбы</a:t>
            </a:r>
            <a:r>
              <a:rPr lang="en-US" altLang="ru-RU" sz="5600" dirty="0"/>
              <a:t> </a:t>
            </a:r>
            <a:r>
              <a:rPr lang="en-US" altLang="en-US" sz="5600" dirty="0"/>
              <a:t>список</a:t>
            </a:r>
            <a:r>
              <a:rPr lang="en-US" altLang="ru-RU" sz="5600" dirty="0"/>
              <a:t> </a:t>
            </a:r>
            <a:r>
              <a:rPr lang="en-US" altLang="en-US" sz="5600" dirty="0"/>
              <a:t>катеров</a:t>
            </a:r>
            <a:r>
              <a:rPr lang="en-US" altLang="ru-RU" sz="5600" dirty="0"/>
              <a:t> </a:t>
            </a:r>
            <a:r>
              <a:rPr lang="en-US" altLang="en-US" sz="5600" dirty="0"/>
              <a:t>с</a:t>
            </a:r>
            <a:r>
              <a:rPr lang="en-US" altLang="ru-RU" sz="5600" dirty="0"/>
              <a:t> </a:t>
            </a:r>
            <a:r>
              <a:rPr lang="en-US" altLang="en-US" sz="5600" dirty="0"/>
              <a:t>наибольшим</a:t>
            </a:r>
            <a:r>
              <a:rPr lang="en-US" altLang="ru-RU" sz="5600" dirty="0"/>
              <a:t> </a:t>
            </a:r>
            <a:r>
              <a:rPr lang="en-US" altLang="en-US" sz="5600" dirty="0"/>
              <a:t>уловом</a:t>
            </a:r>
            <a:endParaRPr lang="en-US" altLang="en-US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для</a:t>
            </a:r>
            <a:r>
              <a:rPr lang="en-US" altLang="ru-RU" sz="5600" dirty="0"/>
              <a:t> </a:t>
            </a:r>
            <a:r>
              <a:rPr lang="en-US" altLang="en-US" sz="5600" dirty="0"/>
              <a:t>указанного</a:t>
            </a:r>
            <a:r>
              <a:rPr lang="en-US" altLang="ru-RU" sz="5600" dirty="0"/>
              <a:t> </a:t>
            </a:r>
            <a:r>
              <a:rPr lang="en-US" altLang="en-US" sz="5600" dirty="0"/>
              <a:t>интервала</a:t>
            </a:r>
            <a:r>
              <a:rPr lang="en-US" altLang="ru-RU" sz="5600" dirty="0"/>
              <a:t> </a:t>
            </a:r>
            <a:r>
              <a:rPr lang="en-US" altLang="en-US" sz="5600" dirty="0"/>
              <a:t>дат</a:t>
            </a:r>
            <a:r>
              <a:rPr lang="en-US" altLang="ru-RU" sz="5600" dirty="0"/>
              <a:t> – </a:t>
            </a:r>
            <a:r>
              <a:rPr lang="en-US" altLang="en-US" sz="5600" dirty="0"/>
              <a:t>список</a:t>
            </a:r>
            <a:r>
              <a:rPr lang="en-US" altLang="ru-RU" sz="5600" dirty="0"/>
              <a:t> </a:t>
            </a:r>
            <a:r>
              <a:rPr lang="en-US" altLang="en-US" sz="5600" dirty="0"/>
              <a:t>банок</a:t>
            </a:r>
            <a:r>
              <a:rPr lang="en-US" altLang="ru-RU" sz="5600" dirty="0"/>
              <a:t> </a:t>
            </a:r>
            <a:r>
              <a:rPr lang="en-US" altLang="en-US" sz="5600" dirty="0"/>
              <a:t>со</a:t>
            </a:r>
            <a:r>
              <a:rPr lang="en-US" altLang="ru-RU" sz="5600" dirty="0"/>
              <a:t> </a:t>
            </a:r>
            <a:r>
              <a:rPr lang="en-US" altLang="en-US" sz="5600" dirty="0"/>
              <a:t>средним</a:t>
            </a:r>
            <a:r>
              <a:rPr lang="en-US" altLang="ru-RU" sz="5600" dirty="0"/>
              <a:t> </a:t>
            </a:r>
            <a:r>
              <a:rPr lang="en-US" altLang="en-US" sz="5600" dirty="0"/>
              <a:t>уловом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Разграничение</a:t>
            </a:r>
            <a:r>
              <a:rPr lang="en-US" altLang="ru-RU" sz="5600" dirty="0"/>
              <a:t> </a:t>
            </a:r>
            <a:r>
              <a:rPr lang="en-US" altLang="en-US" sz="5600" dirty="0"/>
              <a:t>прав</a:t>
            </a:r>
            <a:r>
              <a:rPr lang="en-US" altLang="ru-RU" sz="5600" dirty="0"/>
              <a:t> </a:t>
            </a:r>
            <a:r>
              <a:rPr lang="en-US" altLang="en-US" sz="5600" dirty="0"/>
              <a:t>доступа</a:t>
            </a:r>
            <a:r>
              <a:rPr lang="en-US" altLang="ru-RU" sz="5600" dirty="0"/>
              <a:t> (</a:t>
            </a:r>
            <a:r>
              <a:rPr lang="en-US" altLang="en-US" sz="5600" dirty="0"/>
              <a:t>диспетчер</a:t>
            </a:r>
            <a:r>
              <a:rPr lang="en-US" altLang="ru-RU" sz="5600" dirty="0"/>
              <a:t>, </a:t>
            </a:r>
            <a:r>
              <a:rPr lang="en-US" altLang="en-US" sz="5600" dirty="0"/>
              <a:t>капитан</a:t>
            </a:r>
            <a:r>
              <a:rPr lang="en-US" altLang="ru-RU" sz="5600" dirty="0"/>
              <a:t>, </a:t>
            </a:r>
            <a:r>
              <a:rPr lang="en-US" altLang="en-US" sz="5600" dirty="0"/>
              <a:t>администратор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pPr marL="320040" indent="-228600" fontAlgn="auto">
              <a:lnSpc>
                <a:spcPct val="100000"/>
              </a:lnSpc>
              <a:buAutoNum type="arabicPeriod"/>
            </a:pPr>
            <a:r>
              <a:rPr lang="en-US" altLang="en-US" sz="5600" dirty="0"/>
              <a:t>Авторизация</a:t>
            </a:r>
            <a:r>
              <a:rPr lang="en-US" altLang="ru-RU" sz="5600" dirty="0"/>
              <a:t> </a:t>
            </a:r>
            <a:r>
              <a:rPr lang="en-US" altLang="en-US" sz="5600" dirty="0"/>
              <a:t>пользователей</a:t>
            </a:r>
            <a:r>
              <a:rPr lang="en-US" altLang="ru-RU" sz="5600" dirty="0"/>
              <a:t> (</a:t>
            </a:r>
            <a:r>
              <a:rPr lang="en-US" altLang="en-US" sz="5600" dirty="0"/>
              <a:t>логин</a:t>
            </a:r>
            <a:r>
              <a:rPr lang="en-US" altLang="ru-RU" sz="5600" dirty="0"/>
              <a:t>/</a:t>
            </a:r>
            <a:r>
              <a:rPr lang="en-US" altLang="en-US" sz="5600" dirty="0"/>
              <a:t>пароль</a:t>
            </a:r>
            <a:r>
              <a:rPr lang="en-US" altLang="ru-RU" sz="5600" dirty="0"/>
              <a:t>, </a:t>
            </a:r>
            <a:r>
              <a:rPr lang="en-US" altLang="en-US" sz="5600" dirty="0"/>
              <a:t>гостевой</a:t>
            </a:r>
            <a:r>
              <a:rPr lang="en-US" altLang="ru-RU" sz="5600" dirty="0"/>
              <a:t> </a:t>
            </a:r>
            <a:r>
              <a:rPr lang="en-US" altLang="en-US" sz="5600" dirty="0"/>
              <a:t>вход</a:t>
            </a:r>
            <a:r>
              <a:rPr lang="en-US" altLang="ru-RU" sz="5600" dirty="0"/>
              <a:t>)</a:t>
            </a:r>
            <a:endParaRPr lang="en-US" altLang="ru-RU" sz="56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066800" y="1850390"/>
            <a:ext cx="6454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1400" dirty="0">
                <a:sym typeface="+mn-ea"/>
              </a:rPr>
              <a:t>Цель работы: разработать автоматизированную информационную систему для рыболовной фирмы при помощи </a:t>
            </a:r>
            <a:r>
              <a:rPr lang="en-US" sz="1400" dirty="0">
                <a:sym typeface="+mn-ea"/>
              </a:rPr>
              <a:t>SQL Management Studio </a:t>
            </a:r>
            <a:r>
              <a:rPr lang="ru-RU" sz="1400" dirty="0">
                <a:sym typeface="+mn-ea"/>
              </a:rPr>
              <a:t>и </a:t>
            </a:r>
            <a:r>
              <a:rPr lang="en-US" sz="1400" dirty="0">
                <a:sym typeface="+mn-ea"/>
              </a:rPr>
              <a:t>C# WPF</a:t>
            </a:r>
            <a:r>
              <a:rPr lang="ru-RU" sz="1400" dirty="0">
                <a:sym typeface="+mn-ea"/>
              </a:rPr>
              <a:t>.</a:t>
            </a:r>
            <a:endParaRPr lang="ru-RU" sz="1400" dirty="0"/>
          </a:p>
          <a:p>
            <a:endParaRPr lang="ru-RU" altLang="en-US" sz="1400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915" y="1535430"/>
            <a:ext cx="3237230" cy="2110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Предметная область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268605" y="1845945"/>
            <a:ext cx="4519295" cy="3027680"/>
          </a:xfrm>
        </p:spPr>
        <p:txBody>
          <a:bodyPr>
            <a:normAutofit fontScale="50000"/>
          </a:bodyPr>
          <a:p>
            <a:r>
              <a:rPr lang="en-US" altLang="en-US"/>
              <a:t>Объект</a:t>
            </a:r>
            <a:r>
              <a:rPr lang="en-US" altLang="ru-RU"/>
              <a:t> </a:t>
            </a:r>
            <a:r>
              <a:rPr lang="en-US" altLang="en-US"/>
              <a:t>автоматизации</a:t>
            </a:r>
            <a:r>
              <a:rPr lang="en-US" altLang="ru-RU"/>
              <a:t> – </a:t>
            </a:r>
            <a:r>
              <a:rPr lang="en-US" altLang="en-US"/>
              <a:t>деятельность</a:t>
            </a:r>
            <a:r>
              <a:rPr lang="en-US" altLang="ru-RU"/>
              <a:t> </a:t>
            </a:r>
            <a:r>
              <a:rPr lang="en-US" altLang="en-US"/>
              <a:t>рыболовной</a:t>
            </a:r>
            <a:r>
              <a:rPr lang="en-US" altLang="ru-RU"/>
              <a:t> </a:t>
            </a:r>
            <a:r>
              <a:rPr lang="en-US" altLang="en-US"/>
              <a:t>фирмы</a:t>
            </a:r>
            <a:r>
              <a:rPr lang="en-US" altLang="ru-RU"/>
              <a:t>, </a:t>
            </a:r>
            <a:r>
              <a:rPr lang="en-US" altLang="en-US"/>
              <a:t>включающая</a:t>
            </a:r>
            <a:r>
              <a:rPr lang="en-US" altLang="ru-RU"/>
              <a:t>:</a:t>
            </a:r>
            <a:endParaRPr lang="en-US" altLang="ru-RU"/>
          </a:p>
          <a:p>
            <a:pPr marL="342900" indent="-342900">
              <a:buAutoNum type="arabicPeriod"/>
            </a:pPr>
            <a:r>
              <a:rPr lang="en-US" altLang="en-US"/>
              <a:t>Катера</a:t>
            </a:r>
            <a:r>
              <a:rPr lang="en-US" altLang="ru-RU"/>
              <a:t> – </a:t>
            </a:r>
            <a:r>
              <a:rPr lang="en-US" altLang="en-US"/>
              <a:t>плавсредства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промысла</a:t>
            </a:r>
            <a:r>
              <a:rPr lang="en-US" altLang="ru-RU"/>
              <a:t>. </a:t>
            </a:r>
            <a:r>
              <a:rPr lang="en-US" altLang="en-US"/>
              <a:t>Учитываются</a:t>
            </a:r>
            <a:r>
              <a:rPr lang="en-US" altLang="ru-RU"/>
              <a:t>: </a:t>
            </a:r>
            <a:r>
              <a:rPr lang="en-US" altLang="en-US"/>
              <a:t>название</a:t>
            </a:r>
            <a:r>
              <a:rPr lang="en-US" altLang="ru-RU"/>
              <a:t>, </a:t>
            </a:r>
            <a:r>
              <a:rPr lang="en-US" altLang="en-US"/>
              <a:t>тип</a:t>
            </a:r>
            <a:r>
              <a:rPr lang="en-US" altLang="ru-RU"/>
              <a:t> (</a:t>
            </a:r>
            <a:r>
              <a:rPr lang="en-US" altLang="en-US"/>
              <a:t>траулер</a:t>
            </a:r>
            <a:r>
              <a:rPr lang="en-US" altLang="ru-RU"/>
              <a:t>, </a:t>
            </a:r>
            <a:r>
              <a:rPr lang="en-US" altLang="en-US"/>
              <a:t>сейнер</a:t>
            </a:r>
            <a:r>
              <a:rPr lang="en-US" altLang="ru-RU"/>
              <a:t>, </a:t>
            </a:r>
            <a:r>
              <a:rPr lang="en-US" altLang="en-US"/>
              <a:t>лонглайнер</a:t>
            </a:r>
            <a:r>
              <a:rPr lang="en-US" altLang="ru-RU"/>
              <a:t>), </a:t>
            </a:r>
            <a:r>
              <a:rPr lang="en-US" altLang="en-US"/>
              <a:t>водоизмещение</a:t>
            </a:r>
            <a:r>
              <a:rPr lang="en-US" altLang="ru-RU"/>
              <a:t>,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постройки</a:t>
            </a:r>
            <a:r>
              <a:rPr lang="en-US" altLang="ru-RU"/>
              <a:t>.</a:t>
            </a:r>
            <a:endParaRPr lang="en-US" altLang="ru-RU"/>
          </a:p>
          <a:p>
            <a:pPr marL="342900" indent="-342900">
              <a:buAutoNum type="arabicPeriod"/>
            </a:pPr>
            <a:r>
              <a:rPr lang="en-US" altLang="en-US"/>
              <a:t>Команда</a:t>
            </a:r>
            <a:r>
              <a:rPr lang="en-US" altLang="ru-RU"/>
              <a:t> – </a:t>
            </a:r>
            <a:r>
              <a:rPr lang="en-US" altLang="en-US"/>
              <a:t>экипаж</a:t>
            </a:r>
            <a:r>
              <a:rPr lang="en-US" altLang="ru-RU"/>
              <a:t> </a:t>
            </a:r>
            <a:r>
              <a:rPr lang="en-US" altLang="en-US"/>
              <a:t>каждого</a:t>
            </a:r>
            <a:r>
              <a:rPr lang="en-US" altLang="ru-RU"/>
              <a:t> </a:t>
            </a:r>
            <a:r>
              <a:rPr lang="en-US" altLang="en-US"/>
              <a:t>катера</a:t>
            </a:r>
            <a:r>
              <a:rPr lang="en-US" altLang="ru-RU"/>
              <a:t>. </a:t>
            </a:r>
            <a:r>
              <a:rPr lang="en-US" altLang="en-US"/>
              <a:t>Учитываются</a:t>
            </a:r>
            <a:r>
              <a:rPr lang="en-US" altLang="ru-RU"/>
              <a:t>: </a:t>
            </a:r>
            <a:r>
              <a:rPr lang="en-US" altLang="en-US"/>
              <a:t>фамилия</a:t>
            </a:r>
            <a:r>
              <a:rPr lang="en-US" altLang="ru-RU"/>
              <a:t>, </a:t>
            </a:r>
            <a:r>
              <a:rPr lang="en-US" altLang="en-US"/>
              <a:t>имя</a:t>
            </a:r>
            <a:r>
              <a:rPr lang="en-US" altLang="ru-RU"/>
              <a:t>, </a:t>
            </a:r>
            <a:r>
              <a:rPr lang="en-US" altLang="en-US"/>
              <a:t>адрес</a:t>
            </a:r>
            <a:r>
              <a:rPr lang="en-US" altLang="ru-RU"/>
              <a:t>, </a:t>
            </a:r>
            <a:r>
              <a:rPr lang="en-US" altLang="en-US"/>
              <a:t>должность</a:t>
            </a:r>
            <a:r>
              <a:rPr lang="en-US" altLang="ru-RU"/>
              <a:t> (</a:t>
            </a:r>
            <a:r>
              <a:rPr lang="en-US" altLang="en-US"/>
              <a:t>капитан</a:t>
            </a:r>
            <a:r>
              <a:rPr lang="en-US" altLang="ru-RU"/>
              <a:t>, </a:t>
            </a:r>
            <a:r>
              <a:rPr lang="en-US" altLang="en-US"/>
              <a:t>боцман</a:t>
            </a:r>
            <a:r>
              <a:rPr lang="en-US" altLang="ru-RU"/>
              <a:t>, </a:t>
            </a:r>
            <a:r>
              <a:rPr lang="en-US" altLang="en-US"/>
              <a:t>матрос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др</a:t>
            </a:r>
            <a:r>
              <a:rPr lang="en-US" altLang="ru-RU"/>
              <a:t>.).</a:t>
            </a:r>
            <a:endParaRPr lang="en-US" altLang="ru-RU"/>
          </a:p>
          <a:p>
            <a:pPr marL="342900" indent="-342900">
              <a:buAutoNum type="arabicPeriod"/>
            </a:pPr>
            <a:r>
              <a:rPr lang="en-US" altLang="en-US"/>
              <a:t>Банки</a:t>
            </a:r>
            <a:r>
              <a:rPr lang="en-US" altLang="ru-RU"/>
              <a:t> (</a:t>
            </a:r>
            <a:r>
              <a:rPr lang="en-US" altLang="en-US"/>
              <a:t>м</a:t>
            </a:r>
            <a:r>
              <a:rPr lang="ru-RU" altLang="en-US"/>
              <a:t>е</a:t>
            </a:r>
            <a:r>
              <a:rPr lang="en-US" altLang="en-US"/>
              <a:t>ста</a:t>
            </a:r>
            <a:r>
              <a:rPr lang="en-US" altLang="ru-RU"/>
              <a:t> </a:t>
            </a:r>
            <a:r>
              <a:rPr lang="en-US" altLang="en-US"/>
              <a:t>лова</a:t>
            </a:r>
            <a:r>
              <a:rPr lang="en-US" altLang="ru-RU"/>
              <a:t>) – </a:t>
            </a:r>
            <a:r>
              <a:rPr lang="en-US" altLang="en-US"/>
              <a:t>географические</a:t>
            </a:r>
            <a:r>
              <a:rPr lang="en-US" altLang="ru-RU"/>
              <a:t> </a:t>
            </a:r>
            <a:r>
              <a:rPr lang="en-US" altLang="en-US"/>
              <a:t>точки</a:t>
            </a:r>
            <a:r>
              <a:rPr lang="en-US" altLang="ru-RU"/>
              <a:t> </a:t>
            </a:r>
            <a:r>
              <a:rPr lang="en-US" altLang="en-US"/>
              <a:t>промысла</a:t>
            </a:r>
            <a:r>
              <a:rPr lang="en-US" altLang="ru-RU"/>
              <a:t>. </a:t>
            </a:r>
            <a:r>
              <a:rPr lang="en-US" altLang="en-US"/>
              <a:t>Учитываются</a:t>
            </a:r>
            <a:r>
              <a:rPr lang="en-US" altLang="ru-RU"/>
              <a:t>: </a:t>
            </a:r>
            <a:r>
              <a:rPr lang="en-US" altLang="en-US"/>
              <a:t>название</a:t>
            </a:r>
            <a:r>
              <a:rPr lang="en-US" altLang="ru-RU"/>
              <a:t>, </a:t>
            </a:r>
            <a:r>
              <a:rPr lang="en-US" altLang="en-US"/>
              <a:t>координаты</a:t>
            </a:r>
            <a:r>
              <a:rPr lang="en-US" altLang="ru-RU"/>
              <a:t>.</a:t>
            </a:r>
            <a:endParaRPr lang="en-US" altLang="ru-RU"/>
          </a:p>
          <a:p>
            <a:pPr marL="342900" indent="-342900">
              <a:buAutoNum type="arabicPeriod"/>
            </a:pPr>
            <a:r>
              <a:rPr lang="en-US" altLang="en-US"/>
              <a:t>Выходы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промысел</a:t>
            </a:r>
            <a:r>
              <a:rPr lang="en-US" altLang="ru-RU"/>
              <a:t> – </a:t>
            </a:r>
            <a:r>
              <a:rPr lang="en-US" altLang="en-US"/>
              <a:t>каждый</a:t>
            </a:r>
            <a:r>
              <a:rPr lang="en-US" altLang="ru-RU"/>
              <a:t> </a:t>
            </a:r>
            <a:r>
              <a:rPr lang="en-US" altLang="en-US"/>
              <a:t>рейс</a:t>
            </a:r>
            <a:r>
              <a:rPr lang="en-US" altLang="ru-RU"/>
              <a:t> </a:t>
            </a:r>
            <a:r>
              <a:rPr lang="en-US" altLang="en-US"/>
              <a:t>катера</a:t>
            </a:r>
            <a:r>
              <a:rPr lang="en-US" altLang="ru-RU"/>
              <a:t>. </a:t>
            </a:r>
            <a:r>
              <a:rPr lang="en-US" altLang="en-US"/>
              <a:t>Учитываются</a:t>
            </a:r>
            <a:r>
              <a:rPr lang="en-US" altLang="ru-RU"/>
              <a:t>: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выхода</a:t>
            </a:r>
            <a:r>
              <a:rPr lang="en-US" altLang="ru-RU"/>
              <a:t>,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возвращения</a:t>
            </a:r>
            <a:r>
              <a:rPr lang="en-US" altLang="ru-RU"/>
              <a:t>, </a:t>
            </a:r>
            <a:r>
              <a:rPr lang="en-US" altLang="en-US"/>
              <a:t>состав</a:t>
            </a:r>
            <a:r>
              <a:rPr lang="en-US" altLang="ru-RU"/>
              <a:t> </a:t>
            </a:r>
            <a:r>
              <a:rPr lang="en-US" altLang="en-US"/>
              <a:t>команды</a:t>
            </a:r>
            <a:r>
              <a:rPr lang="en-US" altLang="ru-RU"/>
              <a:t>.</a:t>
            </a:r>
            <a:endParaRPr lang="en-US" altLang="ru-RU"/>
          </a:p>
          <a:p>
            <a:pPr marL="342900" indent="-342900">
              <a:buAutoNum type="arabicPeriod"/>
            </a:pPr>
            <a:r>
              <a:rPr lang="en-US" altLang="en-US"/>
              <a:t>Улов</a:t>
            </a:r>
            <a:r>
              <a:rPr lang="en-US" altLang="ru-RU"/>
              <a:t> – </a:t>
            </a:r>
            <a:r>
              <a:rPr lang="en-US" altLang="en-US"/>
              <a:t>результат</a:t>
            </a:r>
            <a:r>
              <a:rPr lang="en-US" altLang="ru-RU"/>
              <a:t> </a:t>
            </a:r>
            <a:r>
              <a:rPr lang="en-US" altLang="en-US"/>
              <a:t>промысла</a:t>
            </a:r>
            <a:r>
              <a:rPr lang="en-US" altLang="ru-RU"/>
              <a:t>. </a:t>
            </a:r>
            <a:r>
              <a:rPr lang="en-US" altLang="en-US"/>
              <a:t>Учитываются</a:t>
            </a:r>
            <a:r>
              <a:rPr lang="en-US" altLang="ru-RU"/>
              <a:t>: </a:t>
            </a:r>
            <a:r>
              <a:rPr lang="en-US" altLang="en-US"/>
              <a:t>привязка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выходу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банке</a:t>
            </a:r>
            <a:r>
              <a:rPr lang="en-US" altLang="ru-RU"/>
              <a:t>, </a:t>
            </a:r>
            <a:r>
              <a:rPr lang="en-US" altLang="en-US"/>
              <a:t>сорт</a:t>
            </a:r>
            <a:r>
              <a:rPr lang="en-US" altLang="ru-RU"/>
              <a:t> </a:t>
            </a:r>
            <a:r>
              <a:rPr lang="en-US" altLang="en-US"/>
              <a:t>рыбы</a:t>
            </a:r>
            <a:r>
              <a:rPr lang="en-US" altLang="ru-RU"/>
              <a:t> (</a:t>
            </a:r>
            <a:r>
              <a:rPr lang="en-US" altLang="en-US"/>
              <a:t>треска</a:t>
            </a:r>
            <a:r>
              <a:rPr lang="en-US" altLang="ru-RU"/>
              <a:t>, </a:t>
            </a:r>
            <a:r>
              <a:rPr lang="en-US" altLang="en-US"/>
              <a:t>пикша</a:t>
            </a:r>
            <a:r>
              <a:rPr lang="en-US" altLang="ru-RU"/>
              <a:t>, </a:t>
            </a:r>
            <a:r>
              <a:rPr lang="en-US" altLang="en-US"/>
              <a:t>минтай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др</a:t>
            </a:r>
            <a:r>
              <a:rPr lang="en-US" altLang="ru-RU"/>
              <a:t>.), </a:t>
            </a:r>
            <a:r>
              <a:rPr lang="en-US" altLang="en-US"/>
              <a:t>вес</a:t>
            </a:r>
            <a:r>
              <a:rPr lang="en-US" altLang="ru-RU"/>
              <a:t> (</a:t>
            </a:r>
            <a:r>
              <a:rPr lang="en-US" altLang="en-US"/>
              <a:t>кг</a:t>
            </a:r>
            <a:r>
              <a:rPr lang="en-US" altLang="ru-RU"/>
              <a:t>), </a:t>
            </a:r>
            <a:r>
              <a:rPr lang="en-US" altLang="en-US"/>
              <a:t>качество</a:t>
            </a:r>
            <a:r>
              <a:rPr lang="en-US" altLang="ru-RU"/>
              <a:t> (</a:t>
            </a:r>
            <a:r>
              <a:rPr lang="en-US" altLang="en-US"/>
              <a:t>отличное</a:t>
            </a:r>
            <a:r>
              <a:rPr lang="en-US" altLang="ru-RU"/>
              <a:t>, </a:t>
            </a:r>
            <a:r>
              <a:rPr lang="en-US" altLang="en-US"/>
              <a:t>хорошее</a:t>
            </a:r>
            <a:r>
              <a:rPr lang="en-US" altLang="ru-RU"/>
              <a:t>, </a:t>
            </a:r>
            <a:r>
              <a:rPr lang="en-US" altLang="en-US"/>
              <a:t>плохое</a:t>
            </a:r>
            <a:r>
              <a:rPr lang="en-US" altLang="ru-RU"/>
              <a:t>),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прихода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банку</a:t>
            </a:r>
            <a:r>
              <a:rPr lang="en-US" altLang="ru-RU"/>
              <a:t>, </a:t>
            </a:r>
            <a:r>
              <a:rPr lang="en-US" altLang="en-US"/>
              <a:t>дата</a:t>
            </a:r>
            <a:r>
              <a:rPr lang="en-US" altLang="ru-RU"/>
              <a:t> </a:t>
            </a:r>
            <a:r>
              <a:rPr lang="en-US" altLang="en-US"/>
              <a:t>отплытия</a:t>
            </a:r>
            <a:r>
              <a:rPr lang="en-US" altLang="ru-RU"/>
              <a:t>.</a:t>
            </a:r>
            <a:endParaRPr lang="en-US" altLang="ru-RU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5036820" y="1845945"/>
            <a:ext cx="4064000" cy="302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000"/>
              <a:t>Основные</a:t>
            </a:r>
            <a:r>
              <a:rPr lang="en-US" altLang="ru-RU" sz="1000"/>
              <a:t> </a:t>
            </a:r>
            <a:r>
              <a:rPr lang="en-US" altLang="en-US" sz="1000"/>
              <a:t>процессы</a:t>
            </a:r>
            <a:r>
              <a:rPr lang="en-US" altLang="ru-RU" sz="1000"/>
              <a:t>:</a:t>
            </a:r>
            <a:endParaRPr lang="en-US" altLang="ru-RU" sz="1000"/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Регистрация выхода катера с назначением команды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Фиксация улова по сортам и банкам (один рейс – несколько банок)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Формирование аналитических отчётов: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улов по каждому катеру с датами вы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для заданного периода – катера с наибольшим уловом по каждому сорту рыбы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для заданного периода – средний улов по банкам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AutoNum type="arabicPeriod"/>
            </a:pPr>
            <a:r>
              <a:rPr lang="en-US" altLang="en-US" sz="1000">
                <a:solidFill>
                  <a:schemeClr val="tx1">
                    <a:lumMod val="75000"/>
                    <a:lumOff val="25000"/>
                  </a:schemeClr>
                </a:solidFill>
              </a:rPr>
              <a:t>Картинка: Схема связей между сущностями (катер → команда → выход → банка → улов) или фотография рыболовного судна и карта с отмеченными банками.</a:t>
            </a: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en-US"/>
              <a:t>ER-</a:t>
            </a:r>
            <a:r>
              <a:rPr lang="ru-RU"/>
              <a:t>диаграмма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7275" y="1845945"/>
            <a:ext cx="7597775" cy="40233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Создание 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приложения были созданы следующие таблицы: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081405" y="2153920"/>
            <a:ext cx="7642860" cy="470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/>
            <a:r>
              <a:rPr lang="en-US" altLang="ru-RU" sz="1200"/>
              <a:t>Roles – </a:t>
            </a:r>
            <a:r>
              <a:rPr lang="en-US" altLang="en-US" sz="1200"/>
              <a:t>роли</a:t>
            </a:r>
            <a:r>
              <a:rPr lang="en-US" altLang="ru-RU" sz="1200"/>
              <a:t> </a:t>
            </a:r>
            <a:r>
              <a:rPr lang="en-US" altLang="en-US" sz="1200"/>
              <a:t>пользователей</a:t>
            </a:r>
            <a:r>
              <a:rPr lang="en-US" altLang="ru-RU" sz="1200"/>
              <a:t> (Admin, Manager, Cashier, Director, Storekeeper)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Users – </a:t>
            </a:r>
            <a:r>
              <a:rPr lang="en-US" altLang="en-US" sz="1200"/>
              <a:t>учётные</a:t>
            </a:r>
            <a:r>
              <a:rPr lang="en-US" altLang="ru-RU" sz="1200"/>
              <a:t> </a:t>
            </a:r>
            <a:r>
              <a:rPr lang="en-US" altLang="en-US" sz="1200"/>
              <a:t>записи</a:t>
            </a:r>
            <a:r>
              <a:rPr lang="en-US" altLang="ru-RU" sz="1200"/>
              <a:t> </a:t>
            </a:r>
            <a:r>
              <a:rPr lang="en-US" altLang="en-US" sz="1200"/>
              <a:t>сотрудников</a:t>
            </a:r>
            <a:r>
              <a:rPr lang="en-US" altLang="ru-RU" sz="1200"/>
              <a:t> (</a:t>
            </a:r>
            <a:r>
              <a:rPr lang="en-US" altLang="en-US" sz="1200"/>
              <a:t>логин</a:t>
            </a:r>
            <a:r>
              <a:rPr lang="en-US" altLang="ru-RU" sz="1200"/>
              <a:t>, </a:t>
            </a:r>
            <a:r>
              <a:rPr lang="en-US" altLang="en-US" sz="1200"/>
              <a:t>пароль</a:t>
            </a:r>
            <a:r>
              <a:rPr lang="en-US" altLang="ru-RU" sz="1200"/>
              <a:t>, </a:t>
            </a:r>
            <a:r>
              <a:rPr lang="en-US" altLang="en-US" sz="1200"/>
              <a:t>ФИО</a:t>
            </a:r>
            <a:r>
              <a:rPr lang="en-US" altLang="ru-RU" sz="1200"/>
              <a:t>, </a:t>
            </a:r>
            <a:r>
              <a:rPr lang="en-US" altLang="en-US" sz="1200"/>
              <a:t>роль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Boats – </a:t>
            </a:r>
            <a:r>
              <a:rPr lang="en-US" altLang="en-US" sz="1200"/>
              <a:t>катера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тип</a:t>
            </a:r>
            <a:r>
              <a:rPr lang="en-US" altLang="ru-RU" sz="1200"/>
              <a:t>, </a:t>
            </a:r>
            <a:r>
              <a:rPr lang="en-US" altLang="en-US" sz="1200"/>
              <a:t>водоизмещение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постройки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CrewMembers – </a:t>
            </a:r>
            <a:r>
              <a:rPr lang="en-US" altLang="en-US" sz="1200"/>
              <a:t>члены</a:t>
            </a:r>
            <a:r>
              <a:rPr lang="en-US" altLang="ru-RU" sz="1200"/>
              <a:t> </a:t>
            </a:r>
            <a:r>
              <a:rPr lang="en-US" altLang="en-US" sz="1200"/>
              <a:t>команды</a:t>
            </a:r>
            <a:r>
              <a:rPr lang="en-US" altLang="ru-RU" sz="1200"/>
              <a:t> (</a:t>
            </a:r>
            <a:r>
              <a:rPr lang="en-US" altLang="en-US" sz="1200"/>
              <a:t>фамилия</a:t>
            </a:r>
            <a:r>
              <a:rPr lang="en-US" altLang="ru-RU" sz="1200"/>
              <a:t>, </a:t>
            </a:r>
            <a:r>
              <a:rPr lang="en-US" altLang="en-US" sz="1200"/>
              <a:t>имя</a:t>
            </a:r>
            <a:r>
              <a:rPr lang="en-US" altLang="ru-RU" sz="1200"/>
              <a:t>, </a:t>
            </a:r>
            <a:r>
              <a:rPr lang="en-US" altLang="en-US" sz="1200"/>
              <a:t>адрес</a:t>
            </a:r>
            <a:r>
              <a:rPr lang="en-US" altLang="ru-RU" sz="1200"/>
              <a:t>, </a:t>
            </a:r>
            <a:r>
              <a:rPr lang="en-US" altLang="en-US" sz="1200"/>
              <a:t>должность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FishingSpots – </a:t>
            </a:r>
            <a:r>
              <a:rPr lang="en-US" altLang="en-US" sz="1200"/>
              <a:t>банки</a:t>
            </a:r>
            <a:r>
              <a:rPr lang="en-US" altLang="ru-RU" sz="1200"/>
              <a:t> / </a:t>
            </a:r>
            <a:r>
              <a:rPr lang="en-US" altLang="en-US" sz="1200"/>
              <a:t>места</a:t>
            </a:r>
            <a:r>
              <a:rPr lang="en-US" altLang="ru-RU" sz="1200"/>
              <a:t> </a:t>
            </a:r>
            <a:r>
              <a:rPr lang="en-US" altLang="en-US" sz="1200"/>
              <a:t>лова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координаты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Trips – </a:t>
            </a:r>
            <a:r>
              <a:rPr lang="en-US" altLang="en-US" sz="1200"/>
              <a:t>выходы</a:t>
            </a:r>
            <a:r>
              <a:rPr lang="en-US" altLang="ru-RU" sz="1200"/>
              <a:t> </a:t>
            </a:r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промысел</a:t>
            </a:r>
            <a:r>
              <a:rPr lang="en-US" altLang="ru-RU" sz="1200"/>
              <a:t> (</a:t>
            </a:r>
            <a:r>
              <a:rPr lang="en-US" altLang="en-US" sz="1200"/>
              <a:t>катер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выхода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 </a:t>
            </a:r>
            <a:r>
              <a:rPr lang="en-US" altLang="en-US" sz="1200"/>
              <a:t>возвращения</a:t>
            </a:r>
            <a:r>
              <a:rPr lang="en-US" altLang="ru-RU" sz="1200"/>
              <a:t>)</a:t>
            </a:r>
            <a:r>
              <a:rPr lang="ru-RU" altLang="en-US" sz="1200"/>
              <a:t> 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TripCrew – </a:t>
            </a:r>
            <a:r>
              <a:rPr lang="en-US" altLang="en-US" sz="1200"/>
              <a:t>связь</a:t>
            </a:r>
            <a:r>
              <a:rPr lang="en-US" altLang="ru-RU" sz="1200"/>
              <a:t> </a:t>
            </a:r>
            <a:r>
              <a:rPr lang="en-US" altLang="en-US" sz="1200"/>
              <a:t>выходов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членов</a:t>
            </a:r>
            <a:r>
              <a:rPr lang="en-US" altLang="ru-RU" sz="1200"/>
              <a:t> </a:t>
            </a:r>
            <a:r>
              <a:rPr lang="en-US" altLang="en-US" sz="1200"/>
              <a:t>команды</a:t>
            </a:r>
            <a:r>
              <a:rPr lang="en-US" altLang="ru-RU" sz="1200"/>
              <a:t> (</a:t>
            </a:r>
            <a:r>
              <a:rPr lang="en-US" altLang="en-US" sz="1200"/>
              <a:t>кто</a:t>
            </a:r>
            <a:r>
              <a:rPr lang="en-US" altLang="ru-RU" sz="1200"/>
              <a:t> </a:t>
            </a:r>
            <a:r>
              <a:rPr lang="en-US" altLang="en-US" sz="1200"/>
              <a:t>участвовал</a:t>
            </a:r>
            <a:r>
              <a:rPr lang="en-US" altLang="ru-RU" sz="1200"/>
              <a:t> </a:t>
            </a:r>
            <a:r>
              <a:rPr lang="en-US" altLang="en-US" sz="1200"/>
              <a:t>в</a:t>
            </a:r>
            <a:r>
              <a:rPr lang="en-US" altLang="ru-RU" sz="1200"/>
              <a:t> </a:t>
            </a:r>
            <a:r>
              <a:rPr lang="en-US" altLang="en-US" sz="1200"/>
              <a:t>рейсе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Catch – </a:t>
            </a:r>
            <a:r>
              <a:rPr lang="en-US" altLang="en-US" sz="1200"/>
              <a:t>улов</a:t>
            </a:r>
            <a:r>
              <a:rPr lang="en-US" altLang="ru-RU" sz="1200"/>
              <a:t> (</a:t>
            </a:r>
            <a:r>
              <a:rPr lang="en-US" altLang="en-US" sz="1200"/>
              <a:t>выход</a:t>
            </a:r>
            <a:r>
              <a:rPr lang="en-US" altLang="ru-RU" sz="1200"/>
              <a:t>, </a:t>
            </a:r>
            <a:r>
              <a:rPr lang="en-US" altLang="en-US" sz="1200"/>
              <a:t>банка</a:t>
            </a:r>
            <a:r>
              <a:rPr lang="en-US" altLang="ru-RU" sz="1200"/>
              <a:t>, </a:t>
            </a:r>
            <a:r>
              <a:rPr lang="en-US" altLang="en-US" sz="1200"/>
              <a:t>сорт</a:t>
            </a:r>
            <a:r>
              <a:rPr lang="en-US" altLang="ru-RU" sz="1200"/>
              <a:t> </a:t>
            </a:r>
            <a:r>
              <a:rPr lang="en-US" altLang="en-US" sz="1200"/>
              <a:t>рыбы</a:t>
            </a:r>
            <a:r>
              <a:rPr lang="en-US" altLang="ru-RU" sz="1200"/>
              <a:t>, </a:t>
            </a:r>
            <a:r>
              <a:rPr lang="en-US" altLang="en-US" sz="1200"/>
              <a:t>вес</a:t>
            </a:r>
            <a:r>
              <a:rPr lang="en-US" altLang="ru-RU" sz="1200"/>
              <a:t>, </a:t>
            </a:r>
            <a:r>
              <a:rPr lang="en-US" altLang="en-US" sz="1200"/>
              <a:t>качество</a:t>
            </a:r>
            <a:r>
              <a:rPr lang="en-US" altLang="ru-RU" sz="1200"/>
              <a:t>, </a:t>
            </a:r>
            <a:r>
              <a:rPr lang="en-US" altLang="en-US" sz="1200"/>
              <a:t>даты</a:t>
            </a:r>
            <a:r>
              <a:rPr lang="en-US" altLang="ru-RU" sz="1200"/>
              <a:t> </a:t>
            </a:r>
            <a:r>
              <a:rPr lang="en-US" altLang="en-US" sz="1200"/>
              <a:t>прихода</a:t>
            </a:r>
            <a:r>
              <a:rPr lang="en-US" altLang="ru-RU" sz="1200"/>
              <a:t> </a:t>
            </a:r>
            <a:r>
              <a:rPr lang="en-US" altLang="en-US" sz="1200"/>
              <a:t>и</a:t>
            </a:r>
            <a:r>
              <a:rPr lang="en-US" altLang="ru-RU" sz="1200"/>
              <a:t> </a:t>
            </a:r>
            <a:r>
              <a:rPr lang="en-US" altLang="en-US" sz="1200"/>
              <a:t>отплытия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Products – </a:t>
            </a:r>
            <a:r>
              <a:rPr lang="en-US" altLang="en-US" sz="1200"/>
              <a:t>товары</a:t>
            </a:r>
            <a:r>
              <a:rPr lang="en-US" altLang="ru-RU" sz="1200"/>
              <a:t> </a:t>
            </a:r>
            <a:r>
              <a:rPr lang="en-US" altLang="en-US" sz="1200"/>
              <a:t>магазина</a:t>
            </a:r>
            <a:r>
              <a:rPr lang="en-US" altLang="ru-RU" sz="1200"/>
              <a:t> (</a:t>
            </a:r>
            <a:r>
              <a:rPr lang="en-US" altLang="en-US" sz="1200"/>
              <a:t>название</a:t>
            </a:r>
            <a:r>
              <a:rPr lang="en-US" altLang="ru-RU" sz="1200"/>
              <a:t>, </a:t>
            </a:r>
            <a:r>
              <a:rPr lang="en-US" altLang="en-US" sz="1200"/>
              <a:t>категория</a:t>
            </a:r>
            <a:r>
              <a:rPr lang="en-US" altLang="ru-RU" sz="1200"/>
              <a:t>, </a:t>
            </a:r>
            <a:r>
              <a:rPr lang="en-US" altLang="en-US" sz="1200"/>
              <a:t>производитель</a:t>
            </a:r>
            <a:r>
              <a:rPr lang="en-US" altLang="ru-RU" sz="1200"/>
              <a:t>, </a:t>
            </a:r>
            <a:r>
              <a:rPr lang="en-US" altLang="en-US" sz="1200"/>
              <a:t>цена</a:t>
            </a:r>
            <a:r>
              <a:rPr lang="en-US" altLang="ru-RU" sz="1200"/>
              <a:t>, </a:t>
            </a:r>
            <a:r>
              <a:rPr lang="en-US" altLang="en-US" sz="1200"/>
              <a:t>остаток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Sales – </a:t>
            </a:r>
            <a:r>
              <a:rPr lang="en-US" altLang="en-US" sz="1200"/>
              <a:t>продажи</a:t>
            </a:r>
            <a:r>
              <a:rPr lang="en-US" altLang="ru-RU" sz="1200"/>
              <a:t> (</a:t>
            </a:r>
            <a:r>
              <a:rPr lang="en-US" altLang="en-US" sz="1200"/>
              <a:t>клиент</a:t>
            </a:r>
            <a:r>
              <a:rPr lang="en-US" altLang="ru-RU" sz="1200"/>
              <a:t>, </a:t>
            </a:r>
            <a:r>
              <a:rPr lang="en-US" altLang="en-US" sz="1200"/>
              <a:t>дата</a:t>
            </a:r>
            <a:r>
              <a:rPr lang="en-US" altLang="ru-RU" sz="1200"/>
              <a:t>, </a:t>
            </a:r>
            <a:r>
              <a:rPr lang="en-US" altLang="en-US" sz="1200"/>
              <a:t>сумма</a:t>
            </a:r>
            <a:r>
              <a:rPr lang="en-US" altLang="ru-RU" sz="1200"/>
              <a:t>, </a:t>
            </a:r>
            <a:r>
              <a:rPr lang="en-US" altLang="en-US" sz="1200"/>
              <a:t>метод</a:t>
            </a:r>
            <a:r>
              <a:rPr lang="en-US" altLang="ru-RU" sz="1200"/>
              <a:t> </a:t>
            </a:r>
            <a:r>
              <a:rPr lang="en-US" altLang="en-US" sz="1200"/>
              <a:t>оплаты</a:t>
            </a:r>
            <a:r>
              <a:rPr lang="en-US" altLang="ru-RU" sz="1200"/>
              <a:t>, </a:t>
            </a:r>
            <a:r>
              <a:rPr lang="en-US" altLang="en-US" sz="1200"/>
              <a:t>пользователь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r>
              <a:rPr lang="en-US" altLang="ru-RU" sz="1200"/>
              <a:t>SaleItems – </a:t>
            </a:r>
            <a:r>
              <a:rPr lang="en-US" altLang="en-US" sz="1200"/>
              <a:t>позиции</a:t>
            </a:r>
            <a:r>
              <a:rPr lang="en-US" altLang="ru-RU" sz="1200"/>
              <a:t> </a:t>
            </a:r>
            <a:r>
              <a:rPr lang="en-US" altLang="en-US" sz="1200"/>
              <a:t>продаж</a:t>
            </a:r>
            <a:r>
              <a:rPr lang="en-US" altLang="ru-RU" sz="1200"/>
              <a:t> (</a:t>
            </a:r>
            <a:r>
              <a:rPr lang="en-US" altLang="en-US" sz="1200"/>
              <a:t>товар</a:t>
            </a:r>
            <a:r>
              <a:rPr lang="en-US" altLang="ru-RU" sz="1200"/>
              <a:t>, </a:t>
            </a:r>
            <a:r>
              <a:rPr lang="en-US" altLang="en-US" sz="1200"/>
              <a:t>количество</a:t>
            </a:r>
            <a:r>
              <a:rPr lang="en-US" altLang="ru-RU" sz="1200"/>
              <a:t>, </a:t>
            </a:r>
            <a:r>
              <a:rPr lang="en-US" altLang="en-US" sz="1200"/>
              <a:t>цена</a:t>
            </a:r>
            <a:r>
              <a:rPr lang="en-US" altLang="ru-RU" sz="1200"/>
              <a:t> </a:t>
            </a:r>
            <a:r>
              <a:rPr lang="en-US" altLang="en-US" sz="1200"/>
              <a:t>на</a:t>
            </a:r>
            <a:r>
              <a:rPr lang="en-US" altLang="ru-RU" sz="1200"/>
              <a:t> </a:t>
            </a:r>
            <a:r>
              <a:rPr lang="en-US" altLang="en-US" sz="1200"/>
              <a:t>момент</a:t>
            </a:r>
            <a:r>
              <a:rPr lang="en-US" altLang="ru-RU" sz="1200"/>
              <a:t> </a:t>
            </a:r>
            <a:r>
              <a:rPr lang="en-US" altLang="en-US" sz="1200"/>
              <a:t>продажи</a:t>
            </a:r>
            <a:r>
              <a:rPr lang="en-US" altLang="ru-RU" sz="1200"/>
              <a:t>)</a:t>
            </a:r>
            <a:endParaRPr lang="en-US" altLang="ru-RU" sz="1200"/>
          </a:p>
          <a:p>
            <a:pPr indent="0" fontAlgn="auto"/>
            <a:endParaRPr lang="en-US" altLang="ru-RU" sz="1200"/>
          </a:p>
          <a:p>
            <a:pPr indent="0" fontAlgn="auto"/>
            <a:endParaRPr lang="en-US" altLang="ru-RU" sz="120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46570" y="1845945"/>
            <a:ext cx="50590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400">
                <a:sym typeface="+mn-ea"/>
              </a:rPr>
              <a:t>Всего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таблиц</a:t>
            </a:r>
            <a:r>
              <a:rPr lang="en-US" altLang="ru-RU" sz="1400">
                <a:sym typeface="+mn-ea"/>
              </a:rPr>
              <a:t>: 11 (</a:t>
            </a:r>
            <a:r>
              <a:rPr lang="en-US" altLang="en-US" sz="1400">
                <a:sym typeface="+mn-ea"/>
              </a:rPr>
              <a:t>плюс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вспомогательные</a:t>
            </a:r>
            <a:r>
              <a:rPr lang="en-US" altLang="ru-RU" sz="1400">
                <a:sym typeface="+mn-ea"/>
              </a:rPr>
              <a:t> Categories, Manufacturers, Suppliers, Customers, ProductImages, Purchases, PurchaseItems, SiteImages – </a:t>
            </a:r>
            <a:r>
              <a:rPr lang="en-US" altLang="en-US" sz="1400">
                <a:sym typeface="+mn-ea"/>
              </a:rPr>
              <a:t>при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наличии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в</a:t>
            </a:r>
            <a:r>
              <a:rPr lang="en-US" altLang="ru-RU" sz="1400">
                <a:sym typeface="+mn-ea"/>
              </a:rPr>
              <a:t> </a:t>
            </a:r>
            <a:r>
              <a:rPr lang="en-US" altLang="en-US" sz="1400">
                <a:sym typeface="+mn-ea"/>
              </a:rPr>
              <a:t>проекте</a:t>
            </a:r>
            <a:r>
              <a:rPr lang="en-US" altLang="ru-RU" sz="1400">
                <a:sym typeface="+mn-ea"/>
              </a:rPr>
              <a:t>).</a:t>
            </a:r>
            <a:endParaRPr lang="en-US" altLang="ru-RU" sz="1400"/>
          </a:p>
          <a:p>
            <a:pPr algn="ctr"/>
            <a:endParaRPr lang="ru-RU" altLang="en-US" sz="140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35" y="2799080"/>
            <a:ext cx="5257165" cy="3999230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610" y="2640330"/>
            <a:ext cx="4602480" cy="91503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305" y="3194685"/>
            <a:ext cx="5181600" cy="1095375"/>
          </a:xfrm>
          <a:prstGeom prst="rect">
            <a:avLst/>
          </a:prstGeom>
        </p:spPr>
      </p:pic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015" y="2813050"/>
            <a:ext cx="2165985" cy="152971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2410" y="3651250"/>
            <a:ext cx="3069590" cy="755650"/>
          </a:xfrm>
          <a:prstGeom prst="rect">
            <a:avLst/>
          </a:prstGeom>
        </p:spPr>
      </p:pic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8295" y="4153535"/>
            <a:ext cx="3039110" cy="1539240"/>
          </a:xfrm>
          <a:prstGeom prst="rect">
            <a:avLst/>
          </a:prstGeom>
        </p:spPr>
      </p:pic>
      <p:pic>
        <p:nvPicPr>
          <p:cNvPr id="15" name="Изображение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0" y="5499735"/>
            <a:ext cx="1635760" cy="1028065"/>
          </a:xfrm>
          <a:prstGeom prst="rect">
            <a:avLst/>
          </a:prstGeom>
        </p:spPr>
      </p:pic>
      <p:pic>
        <p:nvPicPr>
          <p:cNvPr id="16" name="Изображение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300" y="4612640"/>
            <a:ext cx="2901315" cy="1068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Импорт данных в БД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945"/>
            <a:ext cx="9279255" cy="4023360"/>
          </a:xfrm>
        </p:spPr>
        <p:txBody>
          <a:bodyPr>
            <a:normAutofit fontScale="80000"/>
          </a:bodyPr>
          <a:lstStyle/>
          <a:p>
            <a:r>
              <a:rPr lang="en-US" altLang="en-US" dirty="0"/>
              <a:t>Первичное</a:t>
            </a:r>
            <a:r>
              <a:rPr lang="en-US" altLang="ru-RU" dirty="0"/>
              <a:t> </a:t>
            </a:r>
            <a:r>
              <a:rPr lang="en-US" altLang="en-US" dirty="0"/>
              <a:t>наполнение</a:t>
            </a:r>
            <a:r>
              <a:rPr lang="en-US" altLang="ru-RU" dirty="0"/>
              <a:t> </a:t>
            </a:r>
            <a:r>
              <a:rPr lang="en-US" altLang="en-US" dirty="0"/>
              <a:t>базы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осуществлялось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основе</a:t>
            </a:r>
            <a:r>
              <a:rPr lang="en-US" altLang="ru-RU" dirty="0"/>
              <a:t> </a:t>
            </a:r>
            <a:r>
              <a:rPr lang="en-US" altLang="en-US" dirty="0"/>
              <a:t>подготовленного</a:t>
            </a:r>
            <a:r>
              <a:rPr lang="en-US" altLang="ru-RU" dirty="0"/>
              <a:t> Excel-</a:t>
            </a:r>
            <a:r>
              <a:rPr lang="en-US" altLang="en-US" dirty="0"/>
              <a:t>файла</a:t>
            </a:r>
            <a:r>
              <a:rPr lang="en-US" altLang="ru-RU" dirty="0"/>
              <a:t>, </a:t>
            </a:r>
            <a:r>
              <a:rPr lang="en-US" altLang="en-US" dirty="0"/>
              <a:t>содержащего</a:t>
            </a:r>
            <a:r>
              <a:rPr lang="en-US" altLang="ru-RU" dirty="0"/>
              <a:t> </a:t>
            </a:r>
            <a:r>
              <a:rPr lang="en-US" altLang="en-US" dirty="0"/>
              <a:t>структурированные</a:t>
            </a:r>
            <a:r>
              <a:rPr lang="en-US" altLang="ru-RU" dirty="0"/>
              <a:t> </a:t>
            </a:r>
            <a:r>
              <a:rPr lang="en-US" altLang="en-US" dirty="0"/>
              <a:t>данные</a:t>
            </a:r>
            <a:r>
              <a:rPr lang="en-US" altLang="ru-RU" dirty="0"/>
              <a:t> </a:t>
            </a:r>
            <a:r>
              <a:rPr lang="en-US" altLang="en-US" dirty="0"/>
              <a:t>по</a:t>
            </a:r>
            <a:r>
              <a:rPr lang="en-US" altLang="ru-RU" dirty="0"/>
              <a:t> </a:t>
            </a:r>
            <a:r>
              <a:rPr lang="en-US" altLang="en-US" dirty="0"/>
              <a:t>всем</a:t>
            </a:r>
            <a:r>
              <a:rPr lang="en-US" altLang="ru-RU" dirty="0"/>
              <a:t> </a:t>
            </a:r>
            <a:r>
              <a:rPr lang="en-US" altLang="en-US" dirty="0"/>
              <a:t>сущностям</a:t>
            </a:r>
            <a:r>
              <a:rPr lang="en-US" altLang="ru-RU" dirty="0"/>
              <a:t> </a:t>
            </a:r>
            <a:r>
              <a:rPr lang="en-US" altLang="en-US" dirty="0"/>
              <a:t>предметной</a:t>
            </a:r>
            <a:r>
              <a:rPr lang="en-US" altLang="ru-RU" dirty="0"/>
              <a:t> </a:t>
            </a:r>
            <a:r>
              <a:rPr lang="en-US" altLang="en-US" dirty="0"/>
              <a:t>области</a:t>
            </a:r>
            <a:r>
              <a:rPr lang="en-US" altLang="ru-RU" dirty="0"/>
              <a:t>. </a:t>
            </a:r>
            <a:r>
              <a:rPr lang="en-US" altLang="en-US" dirty="0"/>
              <a:t>Файл</a:t>
            </a:r>
            <a:r>
              <a:rPr lang="en-US" altLang="ru-RU" dirty="0"/>
              <a:t> </a:t>
            </a:r>
            <a:r>
              <a:rPr lang="en-US" altLang="en-US" dirty="0"/>
              <a:t>включал</a:t>
            </a:r>
            <a:r>
              <a:rPr lang="en-US" altLang="ru-RU" dirty="0"/>
              <a:t> </a:t>
            </a:r>
            <a:r>
              <a:rPr lang="en-US" altLang="en-US" dirty="0"/>
              <a:t>отдельные</a:t>
            </a:r>
            <a:r>
              <a:rPr lang="en-US" altLang="ru-RU" dirty="0"/>
              <a:t> </a:t>
            </a:r>
            <a:r>
              <a:rPr lang="en-US" altLang="en-US" dirty="0"/>
              <a:t>листы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катеров</a:t>
            </a:r>
            <a:r>
              <a:rPr lang="en-US" altLang="ru-RU" dirty="0"/>
              <a:t>, </a:t>
            </a:r>
            <a:r>
              <a:rPr lang="en-US" altLang="en-US" dirty="0"/>
              <a:t>членов</a:t>
            </a:r>
            <a:r>
              <a:rPr lang="en-US" altLang="ru-RU" dirty="0"/>
              <a:t> </a:t>
            </a:r>
            <a:r>
              <a:rPr lang="en-US" altLang="en-US" dirty="0"/>
              <a:t>команды</a:t>
            </a:r>
            <a:r>
              <a:rPr lang="en-US" altLang="ru-RU" dirty="0"/>
              <a:t>, </a:t>
            </a:r>
            <a:r>
              <a:rPr lang="en-US" altLang="en-US" dirty="0"/>
              <a:t>банок</a:t>
            </a:r>
            <a:r>
              <a:rPr lang="en-US" altLang="ru-RU" dirty="0"/>
              <a:t>, </a:t>
            </a:r>
            <a:r>
              <a:rPr lang="en-US" altLang="en-US" dirty="0"/>
              <a:t>выходов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промысел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улова</a:t>
            </a:r>
            <a:r>
              <a:rPr lang="en-US" altLang="ru-RU" dirty="0"/>
              <a:t>, </a:t>
            </a:r>
            <a:r>
              <a:rPr lang="en-US" altLang="en-US" dirty="0"/>
              <a:t>что</a:t>
            </a:r>
            <a:r>
              <a:rPr lang="en-US" altLang="ru-RU" dirty="0"/>
              <a:t> </a:t>
            </a:r>
            <a:r>
              <a:rPr lang="en-US" altLang="en-US" dirty="0"/>
              <a:t>позволило</a:t>
            </a:r>
            <a:r>
              <a:rPr lang="en-US" altLang="ru-RU" dirty="0"/>
              <a:t> </a:t>
            </a:r>
            <a:r>
              <a:rPr lang="en-US" altLang="en-US" dirty="0"/>
              <a:t>систематизировать</a:t>
            </a:r>
            <a:r>
              <a:rPr lang="en-US" altLang="ru-RU" dirty="0"/>
              <a:t> </a:t>
            </a:r>
            <a:r>
              <a:rPr lang="en-US" altLang="en-US" dirty="0"/>
              <a:t>информацию</a:t>
            </a:r>
            <a:r>
              <a:rPr lang="en-US" altLang="ru-RU" dirty="0"/>
              <a:t> </a:t>
            </a:r>
            <a:r>
              <a:rPr lang="en-US" altLang="en-US" dirty="0"/>
              <a:t>перед</a:t>
            </a:r>
            <a:r>
              <a:rPr lang="en-US" altLang="ru-RU" dirty="0"/>
              <a:t> </a:t>
            </a:r>
            <a:r>
              <a:rPr lang="en-US" altLang="en-US" dirty="0"/>
              <a:t>импортом</a:t>
            </a:r>
            <a:r>
              <a:rPr lang="en-US" altLang="ru-RU" dirty="0"/>
              <a:t>.</a:t>
            </a:r>
            <a:endParaRPr lang="en-US" altLang="ru-RU" dirty="0"/>
          </a:p>
          <a:p>
            <a:r>
              <a:rPr lang="en-US" altLang="en-US" dirty="0"/>
              <a:t>Импорт</a:t>
            </a:r>
            <a:r>
              <a:rPr lang="en-US" altLang="ru-RU" dirty="0"/>
              <a:t> </a:t>
            </a:r>
            <a:r>
              <a:rPr lang="en-US" altLang="en-US" dirty="0"/>
              <a:t>выполнялся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несколько</a:t>
            </a:r>
            <a:r>
              <a:rPr lang="en-US" altLang="ru-RU" dirty="0"/>
              <a:t> </a:t>
            </a:r>
            <a:r>
              <a:rPr lang="en-US" altLang="en-US" dirty="0"/>
              <a:t>этапов</a:t>
            </a:r>
            <a:r>
              <a:rPr lang="en-US" altLang="ru-RU" dirty="0"/>
              <a:t>: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Предварительная</a:t>
            </a:r>
            <a:r>
              <a:rPr lang="en-US" altLang="ru-RU" dirty="0"/>
              <a:t> </a:t>
            </a:r>
            <a:r>
              <a:rPr lang="en-US" altLang="en-US" dirty="0"/>
              <a:t>обработка</a:t>
            </a:r>
            <a:r>
              <a:rPr lang="en-US" altLang="ru-RU" dirty="0"/>
              <a:t> – </a:t>
            </a:r>
            <a:r>
              <a:rPr lang="en-US" altLang="en-US" dirty="0"/>
              <a:t>проверка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Excel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полноту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корректность</a:t>
            </a:r>
            <a:r>
              <a:rPr lang="en-US" altLang="ru-RU" dirty="0"/>
              <a:t> (</a:t>
            </a:r>
            <a:r>
              <a:rPr lang="en-US" altLang="en-US" dirty="0"/>
              <a:t>уникальность</a:t>
            </a:r>
            <a:r>
              <a:rPr lang="en-US" altLang="ru-RU" dirty="0"/>
              <a:t> </a:t>
            </a:r>
            <a:r>
              <a:rPr lang="en-US" altLang="en-US" dirty="0"/>
              <a:t>идентификаторов</a:t>
            </a:r>
            <a:r>
              <a:rPr lang="en-US" altLang="ru-RU" dirty="0"/>
              <a:t>, </a:t>
            </a:r>
            <a:r>
              <a:rPr lang="en-US" altLang="en-US" dirty="0"/>
              <a:t>соответствие</a:t>
            </a:r>
            <a:r>
              <a:rPr lang="en-US" altLang="ru-RU" dirty="0"/>
              <a:t> </a:t>
            </a:r>
            <a:r>
              <a:rPr lang="en-US" altLang="en-US" dirty="0"/>
              <a:t>типов</a:t>
            </a:r>
            <a:r>
              <a:rPr lang="en-US" altLang="ru-RU" dirty="0"/>
              <a:t>, </a:t>
            </a:r>
            <a:r>
              <a:rPr lang="en-US" altLang="en-US" dirty="0"/>
              <a:t>наличие</a:t>
            </a:r>
            <a:r>
              <a:rPr lang="en-US" altLang="ru-RU" dirty="0"/>
              <a:t> </a:t>
            </a:r>
            <a:r>
              <a:rPr lang="en-US" altLang="en-US" dirty="0"/>
              <a:t>обязательных</a:t>
            </a:r>
            <a:r>
              <a:rPr lang="en-US" altLang="ru-RU" dirty="0"/>
              <a:t> </a:t>
            </a:r>
            <a:r>
              <a:rPr lang="en-US" altLang="en-US" dirty="0"/>
              <a:t>полей</a:t>
            </a:r>
            <a:r>
              <a:rPr lang="en-US" altLang="ru-RU" dirty="0"/>
              <a:t>).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Экспорт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CSV – </a:t>
            </a:r>
            <a:r>
              <a:rPr lang="en-US" altLang="en-US" dirty="0"/>
              <a:t>преобразование</a:t>
            </a:r>
            <a:r>
              <a:rPr lang="en-US" altLang="ru-RU" dirty="0"/>
              <a:t> </a:t>
            </a:r>
            <a:r>
              <a:rPr lang="en-US" altLang="en-US" dirty="0"/>
              <a:t>листов</a:t>
            </a:r>
            <a:r>
              <a:rPr lang="en-US" altLang="ru-RU" dirty="0"/>
              <a:t> Excel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текстовые</a:t>
            </a:r>
            <a:r>
              <a:rPr lang="en-US" altLang="ru-RU" dirty="0"/>
              <a:t> </a:t>
            </a:r>
            <a:r>
              <a:rPr lang="en-US" altLang="en-US" dirty="0"/>
              <a:t>файлы</a:t>
            </a:r>
            <a:r>
              <a:rPr lang="en-US" altLang="ru-RU" dirty="0"/>
              <a:t> </a:t>
            </a:r>
            <a:r>
              <a:rPr lang="en-US" altLang="en-US" dirty="0"/>
              <a:t>с</a:t>
            </a:r>
            <a:r>
              <a:rPr lang="en-US" altLang="ru-RU" dirty="0"/>
              <a:t> </a:t>
            </a:r>
            <a:r>
              <a:rPr lang="en-US" altLang="en-US" dirty="0"/>
              <a:t>разделителями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последующего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Загрузка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SQL Server – </a:t>
            </a:r>
            <a:r>
              <a:rPr lang="en-US" altLang="en-US" dirty="0"/>
              <a:t>использование</a:t>
            </a:r>
            <a:r>
              <a:rPr lang="en-US" altLang="ru-RU" dirty="0"/>
              <a:t> </a:t>
            </a:r>
            <a:r>
              <a:rPr lang="en-US" altLang="en-US" dirty="0"/>
              <a:t>мастера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 SQL Server Management Studio (SSMS)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переноса</a:t>
            </a:r>
            <a:r>
              <a:rPr lang="en-US" altLang="ru-RU" dirty="0"/>
              <a:t> </a:t>
            </a:r>
            <a:r>
              <a:rPr lang="en-US" altLang="en-US" dirty="0"/>
              <a:t>данных</a:t>
            </a:r>
            <a:r>
              <a:rPr lang="en-US" altLang="ru-RU" dirty="0"/>
              <a:t> </a:t>
            </a:r>
            <a:r>
              <a:rPr lang="en-US" altLang="en-US" dirty="0"/>
              <a:t>из</a:t>
            </a:r>
            <a:r>
              <a:rPr lang="en-US" altLang="ru-RU" dirty="0"/>
              <a:t> CSV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соответствующие</a:t>
            </a:r>
            <a:r>
              <a:rPr lang="en-US" altLang="ru-RU" dirty="0"/>
              <a:t> </a:t>
            </a:r>
            <a:r>
              <a:rPr lang="en-US" altLang="en-US" dirty="0"/>
              <a:t>таблицы</a:t>
            </a:r>
            <a:r>
              <a:rPr lang="en-US" altLang="ru-RU" dirty="0"/>
              <a:t>.</a:t>
            </a:r>
            <a:endParaRPr lang="en-US" altLang="ru-RU" dirty="0"/>
          </a:p>
          <a:p>
            <a:pPr marL="342900" indent="-342900">
              <a:buAutoNum type="arabicPeriod"/>
            </a:pPr>
            <a:r>
              <a:rPr lang="en-US" altLang="en-US" dirty="0"/>
              <a:t>Контроль</a:t>
            </a:r>
            <a:r>
              <a:rPr lang="en-US" altLang="ru-RU" dirty="0"/>
              <a:t> </a:t>
            </a:r>
            <a:r>
              <a:rPr lang="en-US" altLang="en-US" dirty="0"/>
              <a:t>целостности</a:t>
            </a:r>
            <a:r>
              <a:rPr lang="en-US" altLang="ru-RU" dirty="0"/>
              <a:t> – </a:t>
            </a:r>
            <a:r>
              <a:rPr lang="en-US" altLang="en-US" dirty="0"/>
              <a:t>проверка</a:t>
            </a:r>
            <a:r>
              <a:rPr lang="en-US" altLang="ru-RU" dirty="0"/>
              <a:t> </a:t>
            </a:r>
            <a:r>
              <a:rPr lang="en-US" altLang="en-US" dirty="0"/>
              <a:t>ссылочной</a:t>
            </a:r>
            <a:r>
              <a:rPr lang="en-US" altLang="ru-RU" dirty="0"/>
              <a:t> </a:t>
            </a:r>
            <a:r>
              <a:rPr lang="en-US" altLang="en-US" dirty="0"/>
              <a:t>целостности</a:t>
            </a:r>
            <a:r>
              <a:rPr lang="en-US" altLang="ru-RU" dirty="0"/>
              <a:t> </a:t>
            </a:r>
            <a:r>
              <a:rPr lang="en-US" altLang="en-US" dirty="0"/>
              <a:t>после</a:t>
            </a:r>
            <a:r>
              <a:rPr lang="en-US" altLang="ru-RU" dirty="0"/>
              <a:t> </a:t>
            </a:r>
            <a:r>
              <a:rPr lang="en-US" altLang="en-US" dirty="0"/>
              <a:t>импорта</a:t>
            </a:r>
            <a:r>
              <a:rPr lang="en-US" altLang="ru-RU" dirty="0"/>
              <a:t> (</a:t>
            </a:r>
            <a:r>
              <a:rPr lang="en-US" altLang="en-US" dirty="0"/>
              <a:t>внешние</a:t>
            </a:r>
            <a:r>
              <a:rPr lang="en-US" altLang="ru-RU" dirty="0"/>
              <a:t> </a:t>
            </a:r>
            <a:r>
              <a:rPr lang="en-US" altLang="en-US" dirty="0"/>
              <a:t>ключи</a:t>
            </a:r>
            <a:r>
              <a:rPr lang="en-US" altLang="ru-RU" dirty="0"/>
              <a:t>, </a:t>
            </a:r>
            <a:r>
              <a:rPr lang="en-US" altLang="en-US" dirty="0"/>
              <a:t>отсутствие</a:t>
            </a:r>
            <a:r>
              <a:rPr lang="en-US" altLang="ru-RU" dirty="0"/>
              <a:t> </a:t>
            </a:r>
            <a:r>
              <a:rPr lang="" altLang="en-US" dirty="0"/>
              <a:t>«</a:t>
            </a:r>
            <a:r>
              <a:rPr lang="en-US" altLang="en-US" dirty="0"/>
              <a:t>висячих</a:t>
            </a:r>
            <a:r>
              <a:rPr lang="" altLang="en-US" dirty="0"/>
              <a:t>»</a:t>
            </a:r>
            <a:r>
              <a:rPr lang="en-US" altLang="ru-RU" dirty="0"/>
              <a:t> </a:t>
            </a:r>
            <a:r>
              <a:rPr lang="en-US" altLang="en-US" dirty="0"/>
              <a:t>записей</a:t>
            </a:r>
            <a:r>
              <a:rPr lang="en-US" altLang="ru-RU" dirty="0"/>
              <a:t>).</a:t>
            </a:r>
            <a:endParaRPr lang="en-US" alt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Главное окно системы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3340" y="1845945"/>
            <a:ext cx="6223635" cy="40233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023860" y="19113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Основная</a:t>
            </a:r>
            <a:r>
              <a:rPr lang="en-US" altLang="ru-RU"/>
              <a:t> </a:t>
            </a:r>
            <a:r>
              <a:rPr lang="en-US" altLang="en-US"/>
              <a:t>часть</a:t>
            </a:r>
            <a:r>
              <a:rPr lang="en-US" altLang="ru-RU"/>
              <a:t> </a:t>
            </a:r>
            <a:r>
              <a:rPr lang="en-US" altLang="en-US"/>
              <a:t>содержит</a:t>
            </a:r>
            <a:r>
              <a:rPr lang="en-US" altLang="ru-RU"/>
              <a:t> </a:t>
            </a:r>
            <a:r>
              <a:rPr lang="en-US" altLang="en-US"/>
              <a:t>две</a:t>
            </a:r>
            <a:r>
              <a:rPr lang="en-US" altLang="ru-RU"/>
              <a:t> </a:t>
            </a:r>
            <a:r>
              <a:rPr lang="en-US" altLang="en-US"/>
              <a:t>радиокнопки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переключения</a:t>
            </a:r>
            <a:r>
              <a:rPr lang="en-US" altLang="ru-RU"/>
              <a:t> </a:t>
            </a:r>
            <a:r>
              <a:rPr lang="en-US" altLang="en-US"/>
              <a:t>между</a:t>
            </a:r>
            <a:r>
              <a:rPr lang="en-US" altLang="ru-RU"/>
              <a:t> </a:t>
            </a:r>
            <a:r>
              <a:rPr lang="en-US" altLang="en-US"/>
              <a:t>подсистемами</a:t>
            </a:r>
            <a:r>
              <a:rPr lang="en-US" altLang="ru-RU"/>
              <a:t>: </a:t>
            </a:r>
            <a:r>
              <a:rPr lang="" altLang="en-US"/>
              <a:t>«</a:t>
            </a:r>
            <a:r>
              <a:rPr lang="en-US" altLang="en-US"/>
              <a:t>Магазин</a:t>
            </a:r>
            <a:r>
              <a:rPr lang="" altLang="en-US"/>
              <a:t>»</a:t>
            </a:r>
            <a:r>
              <a:rPr lang="en-US" altLang="ru-RU"/>
              <a:t> (</a:t>
            </a:r>
            <a:r>
              <a:rPr lang="en-US" altLang="en-US"/>
              <a:t>учёт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, </a:t>
            </a:r>
            <a:r>
              <a:rPr lang="en-US" altLang="en-US"/>
              <a:t>продаж</a:t>
            </a:r>
            <a:r>
              <a:rPr lang="en-US" altLang="ru-RU"/>
              <a:t>, </a:t>
            </a:r>
            <a:r>
              <a:rPr lang="en-US" altLang="en-US"/>
              <a:t>закупок</a:t>
            </a:r>
            <a:r>
              <a:rPr lang="en-US" altLang="ru-RU"/>
              <a:t>, </a:t>
            </a:r>
            <a:r>
              <a:rPr lang="en-US" altLang="en-US"/>
              <a:t>клиентов</a:t>
            </a:r>
            <a:r>
              <a:rPr lang="en-US" altLang="ru-RU"/>
              <a:t>, </a:t>
            </a:r>
            <a:r>
              <a:rPr lang="en-US" altLang="en-US"/>
              <a:t>поставщиков</a:t>
            </a:r>
            <a:r>
              <a:rPr lang="en-US" altLang="ru-RU"/>
              <a:t>, </a:t>
            </a:r>
            <a:r>
              <a:rPr lang="en-US" altLang="en-US"/>
              <a:t>пользователей</a:t>
            </a:r>
            <a:r>
              <a:rPr lang="en-US" altLang="ru-RU"/>
              <a:t>, </a:t>
            </a:r>
            <a:r>
              <a:rPr lang="en-US" altLang="en-US"/>
              <a:t>отчёты</a:t>
            </a:r>
            <a:r>
              <a:rPr lang="en-US" altLang="ru-RU"/>
              <a:t>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en-US"/>
              <a:t>Учёт</a:t>
            </a:r>
            <a:r>
              <a:rPr lang="en-US" altLang="ru-RU"/>
              <a:t> </a:t>
            </a:r>
            <a:r>
              <a:rPr lang="en-US" altLang="en-US"/>
              <a:t>флота</a:t>
            </a:r>
            <a:r>
              <a:rPr lang="" altLang="en-US"/>
              <a:t>»</a:t>
            </a:r>
            <a:r>
              <a:rPr lang="en-US" altLang="ru-RU"/>
              <a:t> (</a:t>
            </a:r>
            <a:r>
              <a:rPr lang="en-US" altLang="en-US"/>
              <a:t>катера</a:t>
            </a:r>
            <a:r>
              <a:rPr lang="en-US" altLang="ru-RU"/>
              <a:t>, </a:t>
            </a:r>
            <a:r>
              <a:rPr lang="en-US" altLang="en-US"/>
              <a:t>команда</a:t>
            </a:r>
            <a:r>
              <a:rPr lang="en-US" altLang="ru-RU"/>
              <a:t>, </a:t>
            </a:r>
            <a:r>
              <a:rPr lang="en-US" altLang="en-US"/>
              <a:t>банки</a:t>
            </a:r>
            <a:r>
              <a:rPr lang="en-US" altLang="ru-RU"/>
              <a:t>, </a:t>
            </a:r>
            <a:r>
              <a:rPr lang="en-US" altLang="en-US"/>
              <a:t>выходы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промысел</a:t>
            </a:r>
            <a:r>
              <a:rPr lang="en-US" altLang="ru-RU"/>
              <a:t>, </a:t>
            </a:r>
            <a:r>
              <a:rPr lang="en-US" altLang="en-US"/>
              <a:t>улов</a:t>
            </a:r>
            <a:r>
              <a:rPr lang="en-US" altLang="ru-RU"/>
              <a:t>). </a:t>
            </a:r>
            <a:r>
              <a:rPr lang="en-US" altLang="en-US"/>
              <a:t>Выбранный</a:t>
            </a:r>
            <a:r>
              <a:rPr lang="en-US" altLang="ru-RU"/>
              <a:t> </a:t>
            </a:r>
            <a:r>
              <a:rPr lang="en-US" altLang="en-US"/>
              <a:t>раздел</a:t>
            </a:r>
            <a:r>
              <a:rPr lang="en-US" altLang="ru-RU"/>
              <a:t> </a:t>
            </a:r>
            <a:r>
              <a:rPr lang="en-US" altLang="en-US"/>
              <a:t>открывается</a:t>
            </a:r>
            <a:r>
              <a:rPr lang="en-US" altLang="ru-RU"/>
              <a:t> </a:t>
            </a:r>
            <a:r>
              <a:rPr lang="en-US" altLang="en-US"/>
              <a:t>во</a:t>
            </a:r>
            <a:r>
              <a:rPr lang="en-US" altLang="ru-RU"/>
              <a:t> </a:t>
            </a:r>
            <a:r>
              <a:rPr lang="en-US" altLang="en-US"/>
              <a:t>вкладках</a:t>
            </a:r>
            <a:r>
              <a:rPr lang="en-US" altLang="ru-RU"/>
              <a:t>, </a:t>
            </a:r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одновременно</a:t>
            </a:r>
            <a:r>
              <a:rPr lang="en-US" altLang="ru-RU"/>
              <a:t> </a:t>
            </a:r>
            <a:r>
              <a:rPr lang="en-US" altLang="en-US"/>
              <a:t>работать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несколькими</a:t>
            </a:r>
            <a:r>
              <a:rPr lang="en-US" altLang="ru-RU"/>
              <a:t> </a:t>
            </a:r>
            <a:r>
              <a:rPr lang="en-US" altLang="en-US"/>
              <a:t>модулями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Окно Авторизации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1555" y="1845945"/>
            <a:ext cx="2730500" cy="43072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4358640" y="2042795"/>
            <a:ext cx="65798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вводит</a:t>
            </a:r>
            <a:r>
              <a:rPr lang="en-US" altLang="ru-RU"/>
              <a:t> </a:t>
            </a:r>
            <a:r>
              <a:rPr lang="en-US" altLang="en-US"/>
              <a:t>логин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пароль</a:t>
            </a:r>
            <a:r>
              <a:rPr lang="en-US" altLang="ru-RU"/>
              <a:t>, </a:t>
            </a:r>
            <a:r>
              <a:rPr lang="en-US" altLang="en-US"/>
              <a:t>после</a:t>
            </a:r>
            <a:r>
              <a:rPr lang="en-US" altLang="ru-RU"/>
              <a:t> </a:t>
            </a:r>
            <a:r>
              <a:rPr lang="en-US" altLang="en-US"/>
              <a:t>чего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проверяет</a:t>
            </a:r>
            <a:r>
              <a:rPr lang="en-US" altLang="ru-RU"/>
              <a:t> </a:t>
            </a:r>
            <a:r>
              <a:rPr lang="en-US" altLang="en-US"/>
              <a:t>учётные</a:t>
            </a:r>
            <a:r>
              <a:rPr lang="en-US" altLang="ru-RU"/>
              <a:t> </a:t>
            </a:r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определяет</a:t>
            </a:r>
            <a:r>
              <a:rPr lang="en-US" altLang="ru-RU"/>
              <a:t> </a:t>
            </a:r>
            <a:r>
              <a:rPr lang="en-US" altLang="en-US"/>
              <a:t>роль</a:t>
            </a:r>
            <a:r>
              <a:rPr lang="en-US" altLang="ru-RU"/>
              <a:t> (</a:t>
            </a:r>
            <a:r>
              <a:rPr lang="en-US" altLang="en-US"/>
              <a:t>администратор</a:t>
            </a:r>
            <a:r>
              <a:rPr lang="en-US" altLang="ru-RU"/>
              <a:t>, </a:t>
            </a:r>
            <a:r>
              <a:rPr lang="en-US" altLang="en-US"/>
              <a:t>менеджер</a:t>
            </a:r>
            <a:r>
              <a:rPr lang="en-US" altLang="ru-RU"/>
              <a:t>, </a:t>
            </a:r>
            <a:r>
              <a:rPr lang="en-US" altLang="en-US"/>
              <a:t>кассир</a:t>
            </a:r>
            <a:r>
              <a:rPr lang="en-US" altLang="ru-RU"/>
              <a:t>, </a:t>
            </a:r>
            <a:r>
              <a:rPr lang="en-US" altLang="en-US"/>
              <a:t>кладовщик</a:t>
            </a:r>
            <a:r>
              <a:rPr lang="en-US" altLang="ru-RU"/>
              <a:t>, </a:t>
            </a:r>
            <a:r>
              <a:rPr lang="en-US" altLang="en-US"/>
              <a:t>директор</a:t>
            </a:r>
            <a:r>
              <a:rPr lang="en-US" altLang="ru-RU"/>
              <a:t>, </a:t>
            </a:r>
            <a:r>
              <a:rPr lang="en-US" altLang="en-US"/>
              <a:t>гость</a:t>
            </a:r>
            <a:r>
              <a:rPr lang="en-US" altLang="ru-RU"/>
              <a:t>).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предусмотрен</a:t>
            </a:r>
            <a:r>
              <a:rPr lang="en-US" altLang="ru-RU"/>
              <a:t> </a:t>
            </a:r>
            <a:r>
              <a:rPr lang="en-US" altLang="en-US"/>
              <a:t>гостевой</a:t>
            </a:r>
            <a:r>
              <a:rPr lang="en-US" altLang="ru-RU"/>
              <a:t> </a:t>
            </a:r>
            <a:r>
              <a:rPr lang="en-US" altLang="en-US"/>
              <a:t>вход</a:t>
            </a:r>
            <a:r>
              <a:rPr lang="en-US" altLang="ru-RU"/>
              <a:t> </a:t>
            </a:r>
            <a:r>
              <a:rPr lang="en-US" altLang="en-US"/>
              <a:t>без</a:t>
            </a:r>
            <a:r>
              <a:rPr lang="en-US" altLang="ru-RU"/>
              <a:t> </a:t>
            </a:r>
            <a:r>
              <a:rPr lang="en-US" altLang="en-US"/>
              <a:t>регистрации</a:t>
            </a:r>
            <a:r>
              <a:rPr lang="en-US" altLang="ru-RU"/>
              <a:t>, </a:t>
            </a:r>
            <a:r>
              <a:rPr lang="en-US" altLang="en-US"/>
              <a:t>дающий</a:t>
            </a:r>
            <a:r>
              <a:rPr lang="en-US" altLang="ru-RU"/>
              <a:t> </a:t>
            </a:r>
            <a:r>
              <a:rPr lang="en-US" altLang="en-US"/>
              <a:t>доступ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просмотру</a:t>
            </a:r>
            <a:r>
              <a:rPr lang="en-US" altLang="ru-RU"/>
              <a:t> </a:t>
            </a:r>
            <a:r>
              <a:rPr lang="en-US" altLang="en-US"/>
              <a:t>товаров</a:t>
            </a:r>
            <a:r>
              <a:rPr lang="en-US" altLang="ru-RU"/>
              <a:t>. </a:t>
            </a:r>
            <a:r>
              <a:rPr lang="en-US" altLang="en-US"/>
              <a:t>Окно</a:t>
            </a:r>
            <a:r>
              <a:rPr lang="en-US" altLang="ru-RU"/>
              <a:t> </a:t>
            </a:r>
            <a:r>
              <a:rPr lang="en-US" altLang="en-US"/>
              <a:t>выполнено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тёмной</a:t>
            </a:r>
            <a:r>
              <a:rPr lang="en-US" altLang="ru-RU"/>
              <a:t> </a:t>
            </a:r>
            <a:r>
              <a:rPr lang="en-US" altLang="en-US"/>
              <a:t>цветовой</a:t>
            </a:r>
            <a:r>
              <a:rPr lang="en-US" altLang="ru-RU"/>
              <a:t> </a:t>
            </a:r>
            <a:r>
              <a:rPr lang="en-US" altLang="en-US"/>
              <a:t>гамме</a:t>
            </a:r>
            <a:r>
              <a:rPr lang="en-US" altLang="ru-RU"/>
              <a:t>, </a:t>
            </a:r>
            <a:r>
              <a:rPr lang="en-US" altLang="en-US"/>
              <a:t>содержит</a:t>
            </a:r>
            <a:r>
              <a:rPr lang="en-US" altLang="ru-RU"/>
              <a:t> </a:t>
            </a:r>
            <a:r>
              <a:rPr lang="en-US" altLang="en-US"/>
              <a:t>логотип</a:t>
            </a:r>
            <a:r>
              <a:rPr lang="en-US" altLang="ru-RU"/>
              <a:t> </a:t>
            </a:r>
            <a:r>
              <a:rPr lang="en-US" altLang="en-US"/>
              <a:t>компании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расположено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центру</a:t>
            </a:r>
            <a:r>
              <a:rPr lang="en-US" altLang="ru-RU"/>
              <a:t> </a:t>
            </a:r>
            <a:r>
              <a:rPr lang="en-US" altLang="en-US"/>
              <a:t>экрана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Окно Добавления пользователя</a:t>
            </a:r>
            <a:endParaRPr lang="en-US" alt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6740" y="1737360"/>
            <a:ext cx="5939155" cy="23825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10260" y="4236720"/>
            <a:ext cx="105714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Д</a:t>
            </a:r>
            <a:r>
              <a:rPr lang="en-US" altLang="en-US"/>
              <a:t>оступно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администратору</a:t>
            </a:r>
            <a:r>
              <a:rPr lang="en-US" altLang="ru-RU"/>
              <a:t>.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создать</a:t>
            </a:r>
            <a:r>
              <a:rPr lang="en-US" altLang="ru-RU"/>
              <a:t> </a:t>
            </a:r>
            <a:r>
              <a:rPr lang="en-US" altLang="en-US"/>
              <a:t>новую</a:t>
            </a:r>
            <a:r>
              <a:rPr lang="en-US" altLang="ru-RU"/>
              <a:t> </a:t>
            </a:r>
            <a:r>
              <a:rPr lang="en-US" altLang="en-US"/>
              <a:t>учётную</a:t>
            </a:r>
            <a:r>
              <a:rPr lang="en-US" altLang="ru-RU"/>
              <a:t> </a:t>
            </a:r>
            <a:r>
              <a:rPr lang="en-US" altLang="en-US"/>
              <a:t>запись</a:t>
            </a:r>
            <a:r>
              <a:rPr lang="en-US" altLang="ru-RU"/>
              <a:t>, </a:t>
            </a:r>
            <a:r>
              <a:rPr lang="en-US" altLang="en-US"/>
              <a:t>указав</a:t>
            </a:r>
            <a:r>
              <a:rPr lang="en-US" altLang="ru-RU"/>
              <a:t> </a:t>
            </a:r>
            <a:r>
              <a:rPr lang="en-US" altLang="en-US"/>
              <a:t>ФИО</a:t>
            </a:r>
            <a:r>
              <a:rPr lang="en-US" altLang="ru-RU"/>
              <a:t>, </a:t>
            </a:r>
            <a:r>
              <a:rPr lang="en-US" altLang="en-US"/>
              <a:t>логин</a:t>
            </a:r>
            <a:r>
              <a:rPr lang="en-US" altLang="ru-RU"/>
              <a:t>, </a:t>
            </a:r>
            <a:r>
              <a:rPr lang="en-US" altLang="en-US"/>
              <a:t>пароль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роль</a:t>
            </a:r>
            <a:r>
              <a:rPr lang="en-US" altLang="ru-RU"/>
              <a:t> </a:t>
            </a:r>
            <a:r>
              <a:rPr lang="en-US" altLang="en-US"/>
              <a:t>из</a:t>
            </a:r>
            <a:r>
              <a:rPr lang="en-US" altLang="ru-RU"/>
              <a:t> </a:t>
            </a:r>
            <a:r>
              <a:rPr lang="en-US" altLang="en-US"/>
              <a:t>выпадающего</a:t>
            </a:r>
            <a:r>
              <a:rPr lang="en-US" altLang="ru-RU"/>
              <a:t> </a:t>
            </a:r>
            <a:r>
              <a:rPr lang="en-US" altLang="en-US"/>
              <a:t>списка</a:t>
            </a:r>
            <a:r>
              <a:rPr lang="en-US" altLang="ru-RU"/>
              <a:t> (Admin, Manager, Cashier, Director, Storekeeper). </a:t>
            </a:r>
            <a:r>
              <a:rPr lang="en-US" altLang="en-US"/>
              <a:t>После</a:t>
            </a:r>
            <a:r>
              <a:rPr lang="en-US" altLang="ru-RU"/>
              <a:t> </a:t>
            </a:r>
            <a:r>
              <a:rPr lang="en-US" altLang="en-US"/>
              <a:t>сохранения</a:t>
            </a:r>
            <a:r>
              <a:rPr lang="en-US" altLang="ru-RU"/>
              <a:t> </a:t>
            </a:r>
            <a:r>
              <a:rPr lang="en-US" altLang="en-US"/>
              <a:t>новый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получает</a:t>
            </a:r>
            <a:r>
              <a:rPr lang="en-US" altLang="ru-RU"/>
              <a:t> </a:t>
            </a:r>
            <a:r>
              <a:rPr lang="en-US" altLang="en-US"/>
              <a:t>доступ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системе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правами</a:t>
            </a:r>
            <a:r>
              <a:rPr lang="en-US" altLang="ru-RU"/>
              <a:t>, </a:t>
            </a:r>
            <a:r>
              <a:rPr lang="en-US" altLang="en-US"/>
              <a:t>соответствующими</a:t>
            </a:r>
            <a:r>
              <a:rPr lang="en-US" altLang="ru-RU"/>
              <a:t> </a:t>
            </a:r>
            <a:r>
              <a:rPr lang="en-US" altLang="en-US"/>
              <a:t>выбранной</a:t>
            </a:r>
            <a:r>
              <a:rPr lang="en-US" altLang="ru-RU"/>
              <a:t> </a:t>
            </a:r>
            <a:r>
              <a:rPr lang="en-US" altLang="en-US"/>
              <a:t>роли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Программные модули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Дефект 3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8164" y="286603"/>
            <a:ext cx="9067515" cy="1450757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работы были сформулированы и решены следующие проблемы:</a:t>
            </a:r>
            <a:endParaRPr lang="ru-RU" dirty="0"/>
          </a:p>
          <a:p>
            <a:r>
              <a:rPr lang="ru-RU" dirty="0"/>
              <a:t>- Обосновать разработку автоматизированной системы для рыболовной фирмы;</a:t>
            </a:r>
            <a:endParaRPr lang="ru-RU" dirty="0"/>
          </a:p>
          <a:p>
            <a:r>
              <a:rPr lang="ru-RU" dirty="0"/>
              <a:t>- Разработать автоматизированную систему для </a:t>
            </a:r>
            <a:r>
              <a:rPr lang="ru-RU" dirty="0">
                <a:sym typeface="+mn-ea"/>
              </a:rPr>
              <a:t>рыболовной фирмы</a:t>
            </a:r>
            <a:r>
              <a:rPr lang="ru-RU" dirty="0"/>
              <a:t>;</a:t>
            </a:r>
            <a:endParaRPr lang="ru-RU" dirty="0"/>
          </a:p>
          <a:p>
            <a:r>
              <a:rPr lang="ru-RU" dirty="0"/>
              <a:t>- Определить технологию настройки, установки и сопровождения системы для рыболовной фирмы.</a:t>
            </a:r>
            <a:endParaRPr lang="ru-RU" dirty="0"/>
          </a:p>
          <a:p>
            <a:endParaRPr lang="ru-RU" dirty="0"/>
          </a:p>
          <a:p>
            <a:r>
              <a:rPr lang="ru-RU" dirty="0"/>
              <a:t>Курсовая работа выполнена в соответствии с методическими рекомендациями. Цель курсовой работы достигнута.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505" y="5259143"/>
            <a:ext cx="1051843" cy="92036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40" y="232088"/>
            <a:ext cx="1535362" cy="130323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/>
              <a:t>СПАСИБО ЗА ВНИМАНИЕ</a:t>
            </a:r>
            <a:endParaRPr lang="ru-RU" sz="7200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586" y="5499849"/>
            <a:ext cx="1594580" cy="679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5411</Words>
  <Application>WPS Presentation</Application>
  <PresentationFormat>Широкоэкранный</PresentationFormat>
  <Paragraphs>124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Ретро</vt:lpstr>
      <vt:lpstr>Разработка информационной системы для тема</vt:lpstr>
      <vt:lpstr>Обоснование разработки</vt:lpstr>
      <vt:lpstr>Предметная область</vt:lpstr>
      <vt:lpstr>ER-диаграмма</vt:lpstr>
      <vt:lpstr>Создание БД</vt:lpstr>
      <vt:lpstr>Импорт данных в БД</vt:lpstr>
      <vt:lpstr>Главное окно системы</vt:lpstr>
      <vt:lpstr>Окно 1 (указать название)</vt:lpstr>
      <vt:lpstr>Окно 2 (привести все окна системы)</vt:lpstr>
      <vt:lpstr>Программные модули</vt:lpstr>
      <vt:lpstr>Дефект 1</vt:lpstr>
      <vt:lpstr>Дефект 2</vt:lpstr>
      <vt:lpstr>Дефект 3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информационной системы для оптовой базы при помощи 1С:Предприятие 8</dc:title>
  <dc:creator>user</dc:creator>
  <cp:lastModifiedBy>Маклецов Никита</cp:lastModifiedBy>
  <cp:revision>10</cp:revision>
  <dcterms:created xsi:type="dcterms:W3CDTF">2022-10-19T09:39:00Z</dcterms:created>
  <dcterms:modified xsi:type="dcterms:W3CDTF">2026-04-16T00:05:58Z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4FCE44EE73084B64A24604D399809A62_12</vt:lpwstr>
  </property>
  <property fmtid="{D5CDD505-2E9C-101B-9397-08002B2CF9AE}" pid="3" name="KSOProductBuildVer">
    <vt:lpwstr>1049-12.2.0.23202</vt:lpwstr>
  </property>
</Properties>
</file>